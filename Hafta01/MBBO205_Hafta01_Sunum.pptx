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114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Hoş geldiniz. Bugün iki bölüm var: ilk ders saati dersin tanıtımı ve yapay zekâya giriş, ikinci ders saati Linux terminaline ilk adım.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Görüşme saatlerini buraya ekleyin. E-posta konusu kuralı, gelen kutusunda ders e-postalarını ayırmayı kolaylaştırır.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Dersin tek cümlelik hedefi. Her hafta bu zincirin bir halkasını kuruyoruz; 14. haftada zincirin tamamı dönem projesinde birleşiyor.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Yedi kazanımın tam metni ve program kazanımlarıyla ilişkisi ders planında. Bugünkü ders DÖK1 ve DÖK2'nin ilk adımı.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Ders haftada 1 saat teori ve 1 saat uygulama. Bozuk sistem görevi sektördeki en sık iş olan sorun gidermeyi ölçüyor.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Dört blok. İlk blok herkesi aynı Linux seviyesine getiriyor; ara sınav ilk yedi haftayı kapsıyor.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Önerilen iç dağılım: Ara sınav notu = yüzde 70 uygulamalı sınav + yüzde 30 hafta 1–7 lab teslimleri. Final notu = yüzde 50 final sınavı + yüzde 35 dönem projesi + yüzde 15 hafta 8–14 lab teslimleri. Proje takımları 7. haftada kurulacak.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GPU gerektiren tek adım 11. haftadaki hız karşılaştırması; onun için Colab veya Kaggle kullanılabilir.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YZ araçlarını yasaklamıyoruz; doğrulamadan kullanmayı yasaklıyoruz. Ara sınav ve final kapalı ağ ortamında.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Teori yaklaşık 40 dakika, kalan süre soru. Uygulama saatinde herkes kendi terminalinde çalışacak.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İlk ders saatinin teori kısmı. Amaç terminolojiyi netleştirmek ve dönemin geri kalanı için bir harita çizmek.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Rasyonel ajan tanımı Russell ve Norvig'in ders kitabından. Tanım zekâyı değil, davranışı ölçer; bu mühendislik açısından işe yarar.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Örnek: satranç motorunun arama algoritması YZ'dir ama öğrenmez. Spam filtresi ML'dir. Görüntü tanıyan CNN derin öğrenmedir. ChatGPT üretken YZ'dir.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Spam filtresi örneği: kural yazmak yerine binlerce etiketli e-posta veririz, model hangi sözcük örüntülerinin spam olduğunu kendisi çıkarır.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Dönem boyunca en çok denetimli öğrenmeyle çalışacağız (hafta 9–11). Öz-denetimli öğrenme, büyük dil modellerinin etiketsiz internet metninden nasıl eğitildiğini açıklar.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Perceptron formülü 5. haftadaki y = σ(Wx + b) ifadesinin atasıdır. Minsky-Papert eleştirisi tek katmanlı ağlara yönelikti; çok katmanlı ağlar bu sınırı aşar, ama onları eğitecek yöntem 1986'ya kadar yaygınlaşmadı.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 sütun 1974–1993, sağ sütun 1997–2012; yukarıdan aşağı okunur. AlexNet ImageNet 2012'de ilk-5 hatasını yaklaşık yüzde 26'dan yüzde 15'e indirdi; iki GPU ile eğitildi. Bu, derin öğrenme çağının başlangıcı kabul edilir.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2024 Fizik Nobeli Hopfield ve Hinton'a yapay sinir ağlarının temelleri için; Kimya Nobeli Hassabis, Jumper (AlphaFold) ve Baker'a verildi. AB YZ Yasası 1 Ağustos 2024'te yürürlüğe girdi, yükümlülükler 2025–2027 arasında kademeli uygulanıyor.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Algoritmaların çoğu onlarca yıllık; değişen, veri ve hesaplamanın bu algoritmaları çalıştırabilecek ölçeğe ulaşması. Bu ders üçünü de Linux üzerinde pratik olarak ele alıyor.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alanlar ortak bir çekirdeği paylaşıyor: aynı derin öğrenme araçları ve çoğu zaman aynı Transformer mimarisi. 12. haftada CV ve NLP için hazır modeller kullanacağız.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Soldan sağa, yukarıdan aşağı okunur. Bu slayt dersin haritasıdır: her adım bir veya birkaç haftaya karşılık geliyor.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Spam örneğinde x e-postanın sözcük sayıları, y spam/değil etiketi, θ her sözcüğün ağırlığı. Bugün bu formülü ezberlemeniz gerekmiyor; dönem boyunca her parçasına tek tek geri döneceğiz.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Uygulama saatinde lscpu ve nvidia-smi ile kendi makinenizin hangi birimlere sahip olduğunu göreceksiniz. Uç cihaz örnekleri: Raspberry Pi, NVIDIA Jetson.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Ayrıntılar 4. haftada. Ders boyunca IaaS düzeyinde çalışıyoruz, çünkü altyapıyı anlamanın en doğrudan yolu onu kendiniz kurmak.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 kutu bir öngörüdür, kesin bilgi değildir. Dersin Linux ve sorun giderme ağırlığının gerekçesi de budur.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risk, ilgili haftada bir laboratuvar göreviyle somutlaşıyor. Örneğin 10. haftada yüzde 95 doğruluklu ama azınlık sınıfını hiç bulamayan bir modeli inceleyeceğiz.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Üçüncü madde uygulama saatine köprü. Kısa bir ara verip terminalleri açıyoruz.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İkinci ders saati. Herkes terminalini açsın; kurulumu olmayanlar lab bilgisayarını kullansın.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TOP500 istatistik sayfasında işletim sistemi dağılımı görülebilir. Bir model eğitimi ister dizüstünüzde ister bulutta olsun, büyük ihtimalle bir Linux çekirdeği üzerinde çalışır.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WSL2 BIOS'ta sanallaştırma açık olmasını gerektirir; açmayan öğrenciler bu hafta lab bilgisayarıyla devam etsin. Linux tarafında parola yazarken ekranda karakter görünmez; bu normaldir.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Linux büyük-küçük harfe duyarlıdır: Dosya.txt ile dosya.txt farklıdır. Boşluk içeren dosya adlarını tırnak içine alın.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Windows'taki C:, D: sürücüleri yerine tek bir ağaç var. Linux'ta "her şey bir dosyadır": işlemci bilgisi bile /proc altında okunabilir bir dosya. Ayrıntı için man hier.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 tuşu komut ve dosya adlarını tamamlar; iki kez basınca seçenekleri listeler. rm ile silinen dosya geri gelmez, özellikle rm -r kullanırken iki kez okuyun.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 &gt; dosyanın üzerine yazar, çift &gt;&gt; sonuna ekler; bu fark en sık yapılan veri kaybı hatasıdır. Boru hattı fikri 3. haftadaki veri temizleme betiklerinin temelidir.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komutu tek tek çalıştırın ve çıktıyı yorumlayın. nvidia-smi "command not found" verirse makinede NVIDIA sürücüsü veya GPU yok demektir; bu bir hata değil, bir bilgidir.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Terminalde kopyala-yapıştır Ctrl+Shift+C ve Ctrl+Shift+V'dir; Ctrl+C kopyalamaz, komutu durdurur. Bu, ilk haftanın en sık karışıklığıdır.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"bad interpreter" hatası alan olursa dosya Windows'ta düzenlenmiş ve satır sonları CRLF olmuştur; sed -i 's/\r$//' env_report.sh ile düzeltilir. Bu, 3. haftanın bozuk sistem görevinin önizlemesi.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Çözüm (öğrencilere hemen vermeyin): export PATH=/usr/local/sbin:/usr/local/bin:/usr/sbin:/usr/bin:/sbin:/bin veya yeni bir terminal açmak. Kök neden: kabuk komutları PATH'teki dizinlerde arar; PATH yalnızca bu oturumda bozuldu. İleri soru: aynı satır ~/.bashrc içine yazılsaydı ne olurdu? O zaman her yeni terminal bozuk açılır; düzeltme /usr/bin/nano ~/.bashrc ile tam yol kullanarak yapılır.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Kök neden raporu şablonu Telegram grubunda ve ders klasöründe. 5. haftadan itibaren teslimler Git deposu üzerinden ve otomatik denetimle yapılacak.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Missing Semester, MIT'nin açık dersi: missing.csail.mit.edu. İngilizce altyazılı video ve notlar mevcut.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0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İSTANBUL OKAN ÜNİVERSİTESİ · MESLEK YÜKSEKOKULU · 2026–2027 GÜZ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2164060"/>
            <a:ext cx="10989056" cy="1720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E8E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Bulut Bilişim ve</a:t>
            </a:r>
            <a:endParaRPr lang="en-US" sz="6000" dirty="0"/>
          </a:p>
          <a:p>
            <a:pPr marL="0" indent="0" algn="l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E8E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Yapay Zekâ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3967460"/>
            <a:ext cx="11328400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1: Derse giriş ve Linux'a ilk adım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5461000"/>
            <a:ext cx="1132840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Öğr. Üyesi Hasan Oğuz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5796260"/>
            <a:ext cx="11328400" cy="286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TANITIMI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Öğretim üyesi ve iletişim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54101"/>
            <a:ext cx="5207000" cy="1127720"/>
          </a:xfrm>
          <a:prstGeom prst="roundRect">
            <a:avLst>
              <a:gd name="adj" fmla="val 9009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 txBox="1"/>
          <p:nvPr/>
        </p:nvSpPr>
        <p:spPr>
          <a:xfrm>
            <a:off x="1066800" y="2108101"/>
            <a:ext cx="51689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Öğretim üyesi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66800" y="2372221"/>
            <a:ext cx="5168900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Öğr. Üyesi Hasan Oğuz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172200" y="1854101"/>
            <a:ext cx="5207000" cy="1127720"/>
          </a:xfrm>
          <a:prstGeom prst="roundRect">
            <a:avLst>
              <a:gd name="adj" fmla="val 9009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 txBox="1"/>
          <p:nvPr/>
        </p:nvSpPr>
        <p:spPr>
          <a:xfrm>
            <a:off x="6426200" y="2108101"/>
            <a:ext cx="51689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26200" y="2372221"/>
            <a:ext cx="5168900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12800" y="3134221"/>
            <a:ext cx="5207000" cy="1127720"/>
          </a:xfrm>
          <a:prstGeom prst="roundRect">
            <a:avLst>
              <a:gd name="adj" fmla="val 9009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 txBox="1"/>
          <p:nvPr/>
        </p:nvSpPr>
        <p:spPr>
          <a:xfrm>
            <a:off x="1066800" y="3388221"/>
            <a:ext cx="51689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66800" y="3652341"/>
            <a:ext cx="5168900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172200" y="3134221"/>
            <a:ext cx="5207000" cy="1127720"/>
          </a:xfrm>
          <a:prstGeom prst="roundRect">
            <a:avLst>
              <a:gd name="adj" fmla="val 9009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 txBox="1"/>
          <p:nvPr/>
        </p:nvSpPr>
        <p:spPr>
          <a:xfrm>
            <a:off x="6426200" y="3388221"/>
            <a:ext cx="51689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Görüşme saatleri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26200" y="3652341"/>
            <a:ext cx="5168900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[Gün, saat]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12800" y="4566741"/>
            <a:ext cx="11328400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E-posta konusuna </a:t>
            </a: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[MBBO205]</a:t>
            </a: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yazın; ad, soyad ve öğrenci numaranızı ekleyin.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1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B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203587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DERSİN AMACI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2503190"/>
            <a:ext cx="10989056" cy="1656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Dönem sonunda bir yapay zekâ modelini veriden alıp Linux üzerinde, bulutta çalışan bir servise dönüştürebileceksiniz.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4334470"/>
            <a:ext cx="1132840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toplama → model → değerlendirme → konteyner → bulut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TANITIMI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Ders öğrenme kazanımları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03301"/>
          <a:ext cx="10566400" cy="914400"/>
        </p:xfrm>
        <a:graphic>
          <a:graphicData uri="http://schemas.openxmlformats.org/drawingml/2006/table">
            <a:tbl>
              <a:tblPr/>
              <a:tblGrid>
                <a:gridCol w="1479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87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98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6680" marR="106680" marT="62230" marB="6223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 dersi tamamlayan öğrenci…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6680" marR="106680" marT="62230" marB="6223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0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DÖK1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6680" marR="106680" marT="62230" marB="6223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YZ, ML, DL kavramlarını, donanımı ve bulut modellerini açıklar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6680" marR="106680" marT="62230" marB="6223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0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DÖK2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6680" marR="106680" marT="62230" marB="6223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Linux'ta sistem yönetimi, Bash, SSH ve Docker ile ortam kurar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6680" marR="106680" marT="62230" marB="6223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0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DÖK3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6680" marR="106680" marT="62230" marB="6223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NumPy ve Pandas ile lineer cebir, istatistik ve veri keşfi uygular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6680" marR="106680" marT="62230" marB="6223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0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DÖK4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6680" marR="106680" marT="62230" marB="6223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ETL kurar; SQL/NoSQL'de veri saklar; KVKK uyumlu anonimleştirir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6680" marR="106680" marT="62230" marB="6223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30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DÖK5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6680" marR="106680" marT="62230" marB="6223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eğitir, metriklerle değerlendirir, hiperparametre ayarlar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6680" marR="106680" marT="62230" marB="6223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30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DÖK6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6680" marR="106680" marT="62230" marB="6223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Hazır CV/NLP modelleri ve üretken YZ ile prototip geliştirip dağıtır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6680" marR="106680" marT="62230" marB="6223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30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DÖK7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6680" marR="106680" marT="62230" marB="6223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Sorun giderir, İngilizce belge kullanır, takımla ve etik ilkelerle çalışır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6680" marR="106680" marT="62230" marB="6223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1</a:t>
            </a:r>
            <a:endParaRPr lang="en-US" sz="1200" dirty="0"/>
          </a:p>
        </p:txBody>
      </p:sp>
      <p:sp>
        <p:nvSpPr>
          <p:cNvPr id="4" name="Text 3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TANITIMI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 hafta aynı döngü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54101"/>
            <a:ext cx="1991320" cy="1742182"/>
          </a:xfrm>
          <a:prstGeom prst="roundRect">
            <a:avLst>
              <a:gd name="adj" fmla="val 5832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 txBox="1"/>
          <p:nvPr/>
        </p:nvSpPr>
        <p:spPr>
          <a:xfrm>
            <a:off x="1016000" y="2057301"/>
            <a:ext cx="1743412" cy="490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016000" y="2585541"/>
            <a:ext cx="1743412" cy="280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16000" y="2930922"/>
            <a:ext cx="1648317" cy="496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ders saati; kavram ve matematik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56520" y="1854101"/>
            <a:ext cx="1991320" cy="1742182"/>
          </a:xfrm>
          <a:prstGeom prst="roundRect">
            <a:avLst>
              <a:gd name="adj" fmla="val 5832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 txBox="1"/>
          <p:nvPr/>
        </p:nvSpPr>
        <p:spPr>
          <a:xfrm>
            <a:off x="3159720" y="2057301"/>
            <a:ext cx="1743412" cy="490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159720" y="2585541"/>
            <a:ext cx="1743412" cy="280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159720" y="2930922"/>
            <a:ext cx="1648317" cy="496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ders saati; Linux terminalinde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100241" y="1854101"/>
            <a:ext cx="1991320" cy="1742182"/>
          </a:xfrm>
          <a:prstGeom prst="roundRect">
            <a:avLst>
              <a:gd name="adj" fmla="val 5832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 txBox="1"/>
          <p:nvPr/>
        </p:nvSpPr>
        <p:spPr>
          <a:xfrm>
            <a:off x="5303441" y="2057301"/>
            <a:ext cx="1743412" cy="490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5303441" y="2585541"/>
            <a:ext cx="1743412" cy="280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Teslim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03441" y="2930922"/>
            <a:ext cx="1648317" cy="496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içinde; otomatik denetimli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243961" y="1854101"/>
            <a:ext cx="1991320" cy="1742182"/>
          </a:xfrm>
          <a:prstGeom prst="roundRect">
            <a:avLst>
              <a:gd name="adj" fmla="val 5832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 txBox="1"/>
          <p:nvPr/>
        </p:nvSpPr>
        <p:spPr>
          <a:xfrm>
            <a:off x="7447161" y="2057301"/>
            <a:ext cx="1743412" cy="490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447161" y="2585541"/>
            <a:ext cx="1743412" cy="280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Bozuk sistem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447161" y="2930922"/>
            <a:ext cx="1648317" cy="496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Kasten bozulan ortamı onar, kök nedeni yaz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387681" y="1854101"/>
            <a:ext cx="1991320" cy="1742182"/>
          </a:xfrm>
          <a:prstGeom prst="roundRect">
            <a:avLst>
              <a:gd name="adj" fmla="val 5832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 txBox="1"/>
          <p:nvPr/>
        </p:nvSpPr>
        <p:spPr>
          <a:xfrm>
            <a:off x="9590881" y="2057301"/>
            <a:ext cx="1743412" cy="490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9590881" y="2585541"/>
            <a:ext cx="1743412" cy="280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İngilizce okuma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590881" y="2930922"/>
            <a:ext cx="1648317" cy="496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Resmî belge ve man sayfası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12800" y="3901083"/>
            <a:ext cx="11328400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 saati ne yaptığımızı, uygulama saati nasıl yaptığımızı öğretir; teslimler dönem projesinin parçalarıdır.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1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TANITIMI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haftalık yol haritası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54101"/>
            <a:ext cx="2527300" cy="1959471"/>
          </a:xfrm>
          <a:prstGeom prst="roundRect">
            <a:avLst>
              <a:gd name="adj" fmla="val 5185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 txBox="1"/>
          <p:nvPr/>
        </p:nvSpPr>
        <p:spPr>
          <a:xfrm>
            <a:off x="1041400" y="2133501"/>
            <a:ext cx="2277110" cy="26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1–4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41400" y="2466181"/>
            <a:ext cx="2277110" cy="315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ve altyapı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41400" y="2842022"/>
            <a:ext cx="2152904" cy="780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Terminal, izinler, SSH, Bash betikleri, donanım, ağ, bulut VM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92500" y="1854101"/>
            <a:ext cx="2527300" cy="1959471"/>
          </a:xfrm>
          <a:prstGeom prst="roundRect">
            <a:avLst>
              <a:gd name="adj" fmla="val 5185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 txBox="1"/>
          <p:nvPr/>
        </p:nvSpPr>
        <p:spPr>
          <a:xfrm>
            <a:off x="3721100" y="2133501"/>
            <a:ext cx="2277110" cy="26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5–8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721100" y="2466181"/>
            <a:ext cx="2277110" cy="315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ve matematik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721100" y="2842022"/>
            <a:ext cx="2152904" cy="780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NumPy, lineer cebir, Pandas, istatistik, SQL, ETL, Docker, NoSQL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1854101"/>
            <a:ext cx="2527300" cy="1959471"/>
          </a:xfrm>
          <a:prstGeom prst="roundRect">
            <a:avLst>
              <a:gd name="adj" fmla="val 5185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 txBox="1"/>
          <p:nvPr/>
        </p:nvSpPr>
        <p:spPr>
          <a:xfrm>
            <a:off x="6400800" y="2133501"/>
            <a:ext cx="2277110" cy="26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9–11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466181"/>
            <a:ext cx="2277110" cy="315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Modelleme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2842022"/>
            <a:ext cx="2152904" cy="780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Scikit-learn, metrikler, hiperparametre, MLflow, PyTorch, GPU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851900" y="1854101"/>
            <a:ext cx="2527300" cy="1959471"/>
          </a:xfrm>
          <a:prstGeom prst="roundRect">
            <a:avLst>
              <a:gd name="adj" fmla="val 5185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 txBox="1"/>
          <p:nvPr/>
        </p:nvSpPr>
        <p:spPr>
          <a:xfrm>
            <a:off x="9080500" y="2133501"/>
            <a:ext cx="2277110" cy="26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12–14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080500" y="2466181"/>
            <a:ext cx="2277110" cy="315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ve dağıtım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080500" y="2842022"/>
            <a:ext cx="2152904" cy="780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Hazır CV/NLP modelleri, yerel LLM, istem mühendisliği, FastAPI, bulut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1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TANITIMI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Değerlendirme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54101"/>
            <a:ext cx="4287540" cy="2703711"/>
          </a:xfrm>
          <a:prstGeom prst="roundRect">
            <a:avLst>
              <a:gd name="adj" fmla="val 3758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 txBox="1"/>
          <p:nvPr/>
        </p:nvSpPr>
        <p:spPr>
          <a:xfrm>
            <a:off x="1117600" y="2158901"/>
            <a:ext cx="4045734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%40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1117600" y="3047901"/>
            <a:ext cx="4045734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 sınav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117600" y="3479701"/>
            <a:ext cx="3825057" cy="811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Uygulamalı sınav: Bash, SQL ve veri keşfi görevleri (hafta 1–7). Hafta 1–7 lab teslimleri bu notun içinde.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252740" y="1854101"/>
            <a:ext cx="6126460" cy="2703711"/>
          </a:xfrm>
          <a:prstGeom prst="roundRect">
            <a:avLst>
              <a:gd name="adj" fmla="val 3758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 txBox="1"/>
          <p:nvPr/>
        </p:nvSpPr>
        <p:spPr>
          <a:xfrm>
            <a:off x="5557540" y="2158901"/>
            <a:ext cx="6068546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%60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5557540" y="3047901"/>
            <a:ext cx="6068546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557540" y="3479701"/>
            <a:ext cx="5737535" cy="554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Kavramsal sorular + bozuk sistem onarımı. Dönem projesi (takım, canlı demo) ve hafta 8–14 lab teslimleri bu notun içinde.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12800" y="4862612"/>
            <a:ext cx="11328400" cy="286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Haftalık teslimler ve proje, sınav notlarının parçasıdır; iç dağılım dönem başında Telegram grubunda duyurulur.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TANITIMI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Çalışma ortamı: Ubuntu 24.04 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54101"/>
            <a:ext cx="3420566" cy="1874441"/>
          </a:xfrm>
          <a:prstGeom prst="roundRect">
            <a:avLst>
              <a:gd name="adj" fmla="val 5420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108101"/>
            <a:ext cx="355600" cy="355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66800" y="2565301"/>
            <a:ext cx="3203823" cy="315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bilgisayarı veya VirtualBox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066800" y="2941141"/>
            <a:ext cx="3203823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Okulda hazır ortam; evde sanal makine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85766" y="1854101"/>
            <a:ext cx="3420566" cy="1874441"/>
          </a:xfrm>
          <a:prstGeom prst="roundRect">
            <a:avLst>
              <a:gd name="adj" fmla="val 5420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9" name="Image 1" descr="Cod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9766" y="2108101"/>
            <a:ext cx="355600" cy="355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39766" y="2565301"/>
            <a:ext cx="3203823" cy="315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WSL2 (Windows)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4639766" y="2941141"/>
            <a:ext cx="3029069" cy="573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içinde gerçek Linux çekirdeği; en hızlı başlangıç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958733" y="1854101"/>
            <a:ext cx="3420566" cy="1874441"/>
          </a:xfrm>
          <a:prstGeom prst="roundRect">
            <a:avLst>
              <a:gd name="adj" fmla="val 5420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3" name="Image 2" descr="Clou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2733" y="2108101"/>
            <a:ext cx="355600" cy="355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212733" y="2565301"/>
            <a:ext cx="3203823" cy="315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Bulut sanal makinesi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8212733" y="2941141"/>
            <a:ext cx="3203823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4'ten itibaren; SSH ile uzaktan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812800" y="4033341"/>
            <a:ext cx="11328400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Önerilen en düşük donanım: 8 GB RAM, 40 GB boş disk. GPU gerekmez.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1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TANITIMI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Ders kuralları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54101"/>
            <a:ext cx="5207000" cy="1308001"/>
          </a:xfrm>
          <a:prstGeom prst="roundRect">
            <a:avLst>
              <a:gd name="adj" fmla="val 7768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 txBox="1"/>
          <p:nvPr/>
        </p:nvSpPr>
        <p:spPr>
          <a:xfrm>
            <a:off x="1041400" y="2082701"/>
            <a:ext cx="5224780" cy="29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Devam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41400" y="2417961"/>
            <a:ext cx="4939792" cy="554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Yönetmelikteki devam koşulu geçerlidir; uygulama saatleri ayrıca takip edilir.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854101"/>
            <a:ext cx="5207000" cy="1308001"/>
          </a:xfrm>
          <a:prstGeom prst="roundRect">
            <a:avLst>
              <a:gd name="adj" fmla="val 7768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 txBox="1"/>
          <p:nvPr/>
        </p:nvSpPr>
        <p:spPr>
          <a:xfrm>
            <a:off x="6400800" y="2082701"/>
            <a:ext cx="5224780" cy="29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Akademik dürüstlük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417961"/>
            <a:ext cx="5224780" cy="296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Birlikte düşünün, ayrı teslim edin. Kopya teslimler sıfır alır.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2800" y="3314502"/>
            <a:ext cx="5207000" cy="1308001"/>
          </a:xfrm>
          <a:prstGeom prst="roundRect">
            <a:avLst>
              <a:gd name="adj" fmla="val 7768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 txBox="1"/>
          <p:nvPr/>
        </p:nvSpPr>
        <p:spPr>
          <a:xfrm>
            <a:off x="1041400" y="3543102"/>
            <a:ext cx="5224780" cy="29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Üretken YZ serbest, beyan zorunlu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041400" y="3878362"/>
            <a:ext cx="4939792" cy="554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Kullandığınız istemleri ve doğrulama adımlarını AI_USAGE.md dosyasına yazın.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200" y="3314502"/>
            <a:ext cx="5207000" cy="1308001"/>
          </a:xfrm>
          <a:prstGeom prst="roundRect">
            <a:avLst>
              <a:gd name="adj" fmla="val 7768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 txBox="1"/>
          <p:nvPr/>
        </p:nvSpPr>
        <p:spPr>
          <a:xfrm>
            <a:off x="6400800" y="3543102"/>
            <a:ext cx="5224780" cy="29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güvenliği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878362"/>
            <a:ext cx="5224780" cy="296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ve rm -r komutlarını, ne yaptığını okumadan çalıştırmayın.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1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Hafta 1 gündemi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54101"/>
            <a:ext cx="5207000" cy="2537321"/>
          </a:xfrm>
          <a:prstGeom prst="roundRect">
            <a:avLst>
              <a:gd name="adj" fmla="val 4004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 txBox="1"/>
          <p:nvPr/>
        </p:nvSpPr>
        <p:spPr>
          <a:xfrm>
            <a:off x="1117600" y="2158901"/>
            <a:ext cx="5057140" cy="26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DERS SAATİ · TEORİ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17600" y="2516981"/>
            <a:ext cx="505714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zekâya giriş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117600" y="2948781"/>
            <a:ext cx="4781296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Tanımlar: YZ, ML, DL, veri bilimi</a:t>
            </a:r>
            <a:endParaRPr lang="en-US" sz="1400" dirty="0"/>
          </a:p>
          <a:p>
            <a:pPr marL="190500" indent="-190500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Tarihçe: 1943'ten bugüne</a:t>
            </a:r>
            <a:endParaRPr lang="en-US" sz="1400" dirty="0"/>
          </a:p>
          <a:p>
            <a:pPr marL="190500" indent="-190500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disiplinler ve yaşam döngüsü</a:t>
            </a:r>
            <a:endParaRPr lang="en-US" sz="1400" dirty="0"/>
          </a:p>
          <a:p>
            <a:pPr marL="190500" indent="-190500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Donanım, bulut ve güncel eğilimler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854101"/>
            <a:ext cx="5207000" cy="2537321"/>
          </a:xfrm>
          <a:prstGeom prst="roundRect">
            <a:avLst>
              <a:gd name="adj" fmla="val 4004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 txBox="1"/>
          <p:nvPr/>
        </p:nvSpPr>
        <p:spPr>
          <a:xfrm>
            <a:off x="6477000" y="2158901"/>
            <a:ext cx="5057140" cy="26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DERS SAATİ · UYGULAMA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77000" y="2516981"/>
            <a:ext cx="505714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Linux'a ilk adım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477000" y="2948781"/>
            <a:ext cx="4781296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Kurulum seçenekleri ve terminal</a:t>
            </a:r>
            <a:endParaRPr lang="en-US" sz="1400" dirty="0"/>
          </a:p>
          <a:p>
            <a:pPr marL="190500" indent="-190500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Dizin yapısı (FHS)</a:t>
            </a:r>
            <a:endParaRPr lang="en-US" sz="1400" dirty="0"/>
          </a:p>
          <a:p>
            <a:pPr marL="190500" indent="-190500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ve sistem bilgisi komutları</a:t>
            </a:r>
            <a:endParaRPr lang="en-US" sz="1400" dirty="0"/>
          </a:p>
          <a:p>
            <a:pPr marL="190500" indent="-190500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env_report.sh + bozuk PATH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1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2541290"/>
            <a:ext cx="11328400" cy="286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 · TEORİ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2993330"/>
            <a:ext cx="11328400" cy="920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E8E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Yapay zekâ nedir?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3996630"/>
            <a:ext cx="11328400" cy="367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Kavramlar, tarihçe, alt disiplinler ve altyapı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TANIMLAR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0989056" cy="961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Yapay zekâ: insan zekâsı gerektiren görevleri yapan hesaplamalı sistemler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301081"/>
            <a:ext cx="3420566" cy="1308001"/>
          </a:xfrm>
          <a:prstGeom prst="roundRect">
            <a:avLst>
              <a:gd name="adj" fmla="val 7768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 txBox="1"/>
          <p:nvPr/>
        </p:nvSpPr>
        <p:spPr>
          <a:xfrm>
            <a:off x="1041400" y="2529681"/>
            <a:ext cx="3259703" cy="29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Görevler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41400" y="2864941"/>
            <a:ext cx="3081901" cy="554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Algılama, dil, akıl yürütme, karar verme ve deneyimden öğrenme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5766" y="2301081"/>
            <a:ext cx="3420566" cy="1308001"/>
          </a:xfrm>
          <a:prstGeom prst="roundRect">
            <a:avLst>
              <a:gd name="adj" fmla="val 7768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 txBox="1"/>
          <p:nvPr/>
        </p:nvSpPr>
        <p:spPr>
          <a:xfrm>
            <a:off x="4614366" y="2529681"/>
            <a:ext cx="3259703" cy="29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Rasyonel ajan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614366" y="2864941"/>
            <a:ext cx="3081901" cy="554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Çevresini algılar, hedefine göre beklenen en iyi sonucu veren eylemi seçer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58733" y="2301081"/>
            <a:ext cx="3420566" cy="1308001"/>
          </a:xfrm>
          <a:prstGeom prst="roundRect">
            <a:avLst>
              <a:gd name="adj" fmla="val 7768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 txBox="1"/>
          <p:nvPr/>
        </p:nvSpPr>
        <p:spPr>
          <a:xfrm>
            <a:off x="8187333" y="2529681"/>
            <a:ext cx="3259703" cy="29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ve genel YZ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187333" y="2864941"/>
            <a:ext cx="3081901" cy="554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Bugünkü sistemler dar görevlerde güçlü; genel YZ (AGI) hâlâ tartışmalı bir hedef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TANIMLAR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İç içe kümeler: YZ ⊃ ML ⊃ DL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301"/>
            <a:ext cx="6350000" cy="2722563"/>
          </a:xfrm>
          <a:prstGeom prst="roundRect">
            <a:avLst>
              <a:gd name="adj" fmla="val 7464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 txBox="1"/>
          <p:nvPr/>
        </p:nvSpPr>
        <p:spPr>
          <a:xfrm>
            <a:off x="990600" y="1981101"/>
            <a:ext cx="6593840" cy="286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</a:t>
            </a: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kural tabanlı sistemler, arama, planlama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90600" y="2331541"/>
            <a:ext cx="5994400" cy="2016522"/>
          </a:xfrm>
          <a:prstGeom prst="roundRect">
            <a:avLst>
              <a:gd name="adj" fmla="val 8817"/>
            </a:avLst>
          </a:prstGeom>
          <a:solidFill>
            <a:srgbClr val="DEDAD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 txBox="1"/>
          <p:nvPr/>
        </p:nvSpPr>
        <p:spPr>
          <a:xfrm>
            <a:off x="1168400" y="2509341"/>
            <a:ext cx="6202680" cy="286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Makine öğrenmesi</a:t>
            </a: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veriden öğrenen modeller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68400" y="2859782"/>
            <a:ext cx="5638800" cy="1310481"/>
          </a:xfrm>
          <a:prstGeom prst="roundRect">
            <a:avLst>
              <a:gd name="adj" fmla="val 11629"/>
            </a:avLst>
          </a:prstGeom>
          <a:solidFill>
            <a:srgbClr val="C9C4B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 txBox="1"/>
          <p:nvPr/>
        </p:nvSpPr>
        <p:spPr>
          <a:xfrm>
            <a:off x="1346200" y="3037582"/>
            <a:ext cx="5811520" cy="286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 öğrenme</a:t>
            </a: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çok katmanlı sinir ağları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46200" y="3388023"/>
            <a:ext cx="5283200" cy="604441"/>
          </a:xfrm>
          <a:prstGeom prst="roundRect">
            <a:avLst>
              <a:gd name="adj" fmla="val 21011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 txBox="1"/>
          <p:nvPr/>
        </p:nvSpPr>
        <p:spPr>
          <a:xfrm>
            <a:off x="1524000" y="3565823"/>
            <a:ext cx="5420360" cy="286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Üretken YZ</a:t>
            </a:r>
            <a:r>
              <a:rPr lang="en-US" sz="14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LLM, görüntü üreticiler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467600" y="1803301"/>
            <a:ext cx="4302760" cy="29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bilimi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467600" y="2189361"/>
            <a:ext cx="4068064" cy="573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kümelerle kesişir, içinde değildir: istatistik, programlama ve alan bilgisiyle veriden karar üretir.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467600" y="2849761"/>
            <a:ext cx="4068064" cy="573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ML modeli bir YZ sistemidir; her YZ sistemi öğrenmez.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1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TANIMLAR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Makine öğrenmesi kuralı yazmaz, veriden çıkarır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4901"/>
            <a:ext cx="11328400" cy="286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Geleneksel programlama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800" y="2280741"/>
            <a:ext cx="2921000" cy="571500"/>
          </a:xfrm>
          <a:prstGeom prst="roundRect">
            <a:avLst>
              <a:gd name="adj" fmla="val 13333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 txBox="1"/>
          <p:nvPr/>
        </p:nvSpPr>
        <p:spPr>
          <a:xfrm>
            <a:off x="1016000" y="2433141"/>
            <a:ext cx="2766060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Kurallar + Veri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886200" y="2414091"/>
            <a:ext cx="609600" cy="304800"/>
          </a:xfrm>
          <a:prstGeom prst="rightArrow">
            <a:avLst/>
          </a:prstGeom>
          <a:solidFill>
            <a:srgbClr val="4A556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4648200" y="2280741"/>
            <a:ext cx="2286000" cy="571500"/>
          </a:xfrm>
          <a:prstGeom prst="roundRect">
            <a:avLst>
              <a:gd name="adj" fmla="val 13333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 txBox="1"/>
          <p:nvPr/>
        </p:nvSpPr>
        <p:spPr>
          <a:xfrm>
            <a:off x="4851400" y="2433141"/>
            <a:ext cx="2067560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086600" y="2414091"/>
            <a:ext cx="609600" cy="304800"/>
          </a:xfrm>
          <a:prstGeom prst="rightArrow">
            <a:avLst/>
          </a:prstGeom>
          <a:solidFill>
            <a:srgbClr val="4A556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7848600" y="2280741"/>
            <a:ext cx="2921000" cy="571500"/>
          </a:xfrm>
          <a:prstGeom prst="roundRect">
            <a:avLst>
              <a:gd name="adj" fmla="val 13333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 txBox="1"/>
          <p:nvPr/>
        </p:nvSpPr>
        <p:spPr>
          <a:xfrm>
            <a:off x="8051800" y="2433141"/>
            <a:ext cx="2766060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Cevaplar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12800" y="3207841"/>
            <a:ext cx="11328400" cy="286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Makine öğrenmesi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2800" y="3583682"/>
            <a:ext cx="2921000" cy="571500"/>
          </a:xfrm>
          <a:prstGeom prst="roundRect">
            <a:avLst>
              <a:gd name="adj" fmla="val 13333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 txBox="1"/>
          <p:nvPr/>
        </p:nvSpPr>
        <p:spPr>
          <a:xfrm>
            <a:off x="1016000" y="3736082"/>
            <a:ext cx="2766060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+ Cevaplar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886200" y="3717032"/>
            <a:ext cx="609600" cy="304800"/>
          </a:xfrm>
          <a:prstGeom prst="rightArrow">
            <a:avLst/>
          </a:prstGeom>
          <a:solidFill>
            <a:srgbClr val="A94E1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4648200" y="3583682"/>
            <a:ext cx="2286000" cy="571500"/>
          </a:xfrm>
          <a:prstGeom prst="roundRect">
            <a:avLst>
              <a:gd name="adj" fmla="val 13333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 txBox="1"/>
          <p:nvPr/>
        </p:nvSpPr>
        <p:spPr>
          <a:xfrm>
            <a:off x="4851400" y="3736082"/>
            <a:ext cx="2067560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Öğrenme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086600" y="3717032"/>
            <a:ext cx="609600" cy="304800"/>
          </a:xfrm>
          <a:prstGeom prst="rightArrow">
            <a:avLst/>
          </a:prstGeom>
          <a:solidFill>
            <a:srgbClr val="A94E1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7848600" y="3583682"/>
            <a:ext cx="2921000" cy="571500"/>
          </a:xfrm>
          <a:prstGeom prst="roundRect">
            <a:avLst>
              <a:gd name="adj" fmla="val 13333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 txBox="1"/>
          <p:nvPr/>
        </p:nvSpPr>
        <p:spPr>
          <a:xfrm>
            <a:off x="8051800" y="3736082"/>
            <a:ext cx="2766060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Kurallar (model)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1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TANIMLAR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Dört öğrenme türü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54101"/>
            <a:ext cx="5207000" cy="1308001"/>
          </a:xfrm>
          <a:prstGeom prst="roundRect">
            <a:avLst>
              <a:gd name="adj" fmla="val 7768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 txBox="1"/>
          <p:nvPr/>
        </p:nvSpPr>
        <p:spPr>
          <a:xfrm>
            <a:off x="1041400" y="2082701"/>
            <a:ext cx="5224780" cy="29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Denetimli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41400" y="2417961"/>
            <a:ext cx="4939792" cy="554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Etiketli veriden girdi → çıktı eşlemesi. Örnek: spam tespiti, ev fiyatı tahmini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854101"/>
            <a:ext cx="5207000" cy="1308001"/>
          </a:xfrm>
          <a:prstGeom prst="roundRect">
            <a:avLst>
              <a:gd name="adj" fmla="val 7768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 txBox="1"/>
          <p:nvPr/>
        </p:nvSpPr>
        <p:spPr>
          <a:xfrm>
            <a:off x="6400800" y="2082701"/>
            <a:ext cx="5224780" cy="29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Denetimsiz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417961"/>
            <a:ext cx="4939792" cy="554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Etiketsiz veride yapı bulma. Örnek: müşteri segmentasyonu, anomali tespiti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2800" y="3314502"/>
            <a:ext cx="5207000" cy="1308001"/>
          </a:xfrm>
          <a:prstGeom prst="roundRect">
            <a:avLst>
              <a:gd name="adj" fmla="val 7768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 txBox="1"/>
          <p:nvPr/>
        </p:nvSpPr>
        <p:spPr>
          <a:xfrm>
            <a:off x="1041400" y="3543102"/>
            <a:ext cx="5224780" cy="29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Pekiştirmeli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041400" y="3878362"/>
            <a:ext cx="5224780" cy="296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Ödül ve cezayla deneme-yanılma. Örnek: AlphaGo, robot kontrolü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200" y="3314502"/>
            <a:ext cx="5207000" cy="1308001"/>
          </a:xfrm>
          <a:prstGeom prst="roundRect">
            <a:avLst>
              <a:gd name="adj" fmla="val 7768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 txBox="1"/>
          <p:nvPr/>
        </p:nvSpPr>
        <p:spPr>
          <a:xfrm>
            <a:off x="6400800" y="3543102"/>
            <a:ext cx="5224780" cy="29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Öz-denetimli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878362"/>
            <a:ext cx="4939792" cy="554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Etiketi verinin kendisinden üretir. Örnek: LLM'lerin sonraki sözcüğü tahmin etmesi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1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TARİHÇE ·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Doğuş: 1943–1969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03301"/>
            <a:ext cx="97790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1943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879600" y="1803301"/>
            <a:ext cx="6202680" cy="321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McCulloch ve Pitts: yapay nöronun matematiksel modeli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2214761"/>
            <a:ext cx="97790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879600" y="2214761"/>
            <a:ext cx="6202680" cy="321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Turing: "Makineler düşünebilir mi?" ve taklit oyunu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2626221"/>
            <a:ext cx="97790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1956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879600" y="2626221"/>
            <a:ext cx="6202680" cy="321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Dartmouth çalıştayı: "yapay zekâ" alanı adını alır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12800" y="3037681"/>
            <a:ext cx="97790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1958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879600" y="3037681"/>
            <a:ext cx="6202680" cy="321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Rosenblatt: algılayıcı (perceptron), ilk öğrenen nöron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12800" y="3449141"/>
            <a:ext cx="97790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1966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879600" y="3449141"/>
            <a:ext cx="6202680" cy="321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ELIZA: ilk sohbet programı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12800" y="3860602"/>
            <a:ext cx="97790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1969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879600" y="3860602"/>
            <a:ext cx="6202680" cy="321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Minsky ve Papert: tek katmanlı ağların sınırları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823200" y="1803301"/>
            <a:ext cx="3556000" cy="2571552"/>
          </a:xfrm>
          <a:prstGeom prst="roundRect">
            <a:avLst>
              <a:gd name="adj" fmla="val 3951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 txBox="1"/>
          <p:nvPr/>
        </p:nvSpPr>
        <p:spPr>
          <a:xfrm>
            <a:off x="8026400" y="2006501"/>
            <a:ext cx="346456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Algılayıcının karar kuralı</a:t>
            </a:r>
            <a:endParaRPr lang="en-US" sz="1200" dirty="0"/>
          </a:p>
        </p:txBody>
      </p:sp>
      <p:pic>
        <p:nvPicPr>
          <p:cNvPr id="18" name="Image 0" descr="Algılayıcı: w transpoz x artı b sıfırdan büyükse y eşittir 1, aksi hald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494" y="2321421"/>
            <a:ext cx="3145412" cy="127000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8026400" y="3693021"/>
            <a:ext cx="3275584" cy="514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Ağırlıklı toplam eşiği aşarsa 1, aşmazsa 0. XOR gibi doğrusal ayrılamayan sorunları çözemez.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1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TARİHÇE ·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Kışlar ve dönüş: 1974–2012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03301"/>
            <a:ext cx="139700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1974–80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260600" y="1803301"/>
            <a:ext cx="3995420" cy="321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Birinci YZ kışı: beklenti düşer, fon kesilir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299200" y="1803301"/>
            <a:ext cx="139700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1997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47000" y="1803301"/>
            <a:ext cx="3995420" cy="321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Blue, Kasparov'u satrançta yener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2214761"/>
            <a:ext cx="1320800" cy="540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1980'ler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260600" y="2214761"/>
            <a:ext cx="3777488" cy="535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Uzman sistemler: elle yazılmış kural tabanları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299200" y="2214761"/>
            <a:ext cx="1320800" cy="540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747000" y="2214761"/>
            <a:ext cx="3777488" cy="535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Hinton ve ekibi: derin ağları katman katman eğitme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12800" y="2839442"/>
            <a:ext cx="139700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1986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260600" y="2839442"/>
            <a:ext cx="3995420" cy="321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 yayılım (backpropagation) yaygınlaşır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99200" y="2839442"/>
            <a:ext cx="139700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747000" y="2839442"/>
            <a:ext cx="3995420" cy="321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ImageNet: milyonlarca etiketli görüntü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12800" y="3250902"/>
            <a:ext cx="1320800" cy="540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1987–93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2260600" y="3250902"/>
            <a:ext cx="3777488" cy="535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İkinci YZ kışı: uzman sistem pazarı çöker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99200" y="3250902"/>
            <a:ext cx="1320800" cy="540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747000" y="3250902"/>
            <a:ext cx="3777488" cy="535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AlexNet: GPU ile eğitilen CNN, ImageNet'te büyük sıçrama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12800" y="4002584"/>
            <a:ext cx="11328400" cy="286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 yıllar durgunluk dönemleridir. Kışların ortak nedeni: vaatlerin hesaplama ve verinin önüne geçmesi.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1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TARİHÇE ·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Derin öğrenme ve üretken YZ: 2016–bugün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03301"/>
            <a:ext cx="97790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879600" y="1803301"/>
            <a:ext cx="4414520" cy="321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AlphaGo, Lee Sedol'u Go'da 4–1 yener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299200" y="1803301"/>
            <a:ext cx="977900" cy="32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66000" y="1803301"/>
            <a:ext cx="4414520" cy="321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ChatGPT: üretken YZ geniş kitlelere ulaşır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2214761"/>
            <a:ext cx="924560" cy="540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879600" y="2214761"/>
            <a:ext cx="4173728" cy="535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"Attention Is All You Need": Transformer mimarisi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299200" y="2214761"/>
            <a:ext cx="924560" cy="540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66000" y="2214761"/>
            <a:ext cx="4173728" cy="535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Fizik ve kimya Nobel ödülleri YZ araştırmalarına; AB YZ Yasası yürürlüğe girer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12800" y="2839442"/>
            <a:ext cx="924560" cy="540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879600" y="2839442"/>
            <a:ext cx="4173728" cy="535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 (175 milyar parametre); AlphaFold 2 protein yapısını çözer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99200" y="2839442"/>
            <a:ext cx="924560" cy="540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2025+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366000" y="2839442"/>
            <a:ext cx="4173728" cy="535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YZ ajanları, açık ağırlıklı ve yerel çalışan modeller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12800" y="3591123"/>
            <a:ext cx="11328400" cy="286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2017'deki Transformer, bugünkü tüm büyük dil modellerinin ortak mimarisidir.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1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ŞİMDİ?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Üç itici güç aynı anda olgunlaştı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54101"/>
            <a:ext cx="3420566" cy="2195711"/>
          </a:xfrm>
          <a:prstGeom prst="roundRect">
            <a:avLst>
              <a:gd name="adj" fmla="val 4627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Databa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108101"/>
            <a:ext cx="406400" cy="406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66800" y="2616101"/>
            <a:ext cx="3203823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066800" y="3022501"/>
            <a:ext cx="3029069" cy="554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İnternet, sensörler, akıllı telefonlar; ImageNet gibi büyük etiketli setler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85766" y="1854101"/>
            <a:ext cx="3420566" cy="2195711"/>
          </a:xfrm>
          <a:prstGeom prst="roundRect">
            <a:avLst>
              <a:gd name="adj" fmla="val 4627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9" name="Image 1" descr="Lightn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9766" y="2108101"/>
            <a:ext cx="406400" cy="4064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39766" y="2616101"/>
            <a:ext cx="3203823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Hesaplama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4639766" y="3022501"/>
            <a:ext cx="3029069" cy="811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GPU'lar matris çarpımını binlerce çekirdekte paralel yapar; bulutta kiralanabilir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958733" y="1854101"/>
            <a:ext cx="3420566" cy="2195711"/>
          </a:xfrm>
          <a:prstGeom prst="roundRect">
            <a:avLst>
              <a:gd name="adj" fmla="val 4627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3" name="Image 2" descr="Cod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2733" y="2108101"/>
            <a:ext cx="406400" cy="4064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212733" y="2616101"/>
            <a:ext cx="3203823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 ve açık kaynak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8212733" y="3022501"/>
            <a:ext cx="3029069" cy="554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 yayılım, ReLU, Transformer; PyTorch ve Hugging Face herkese açık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1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DİSİPLİNLER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Uygulama alanları ve aralarındaki bağ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301"/>
            <a:ext cx="3420467" cy="1192312"/>
          </a:xfrm>
          <a:prstGeom prst="roundRect">
            <a:avLst>
              <a:gd name="adj" fmla="val 8521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 txBox="1"/>
          <p:nvPr/>
        </p:nvSpPr>
        <p:spPr>
          <a:xfrm>
            <a:off x="1016000" y="2006501"/>
            <a:ext cx="3315474" cy="280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Görüntü işleme (CV)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16000" y="2313781"/>
            <a:ext cx="3315474" cy="275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Sınıflandırma, nesne tespiti, tıbbi görüntü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5667" y="1803301"/>
            <a:ext cx="3420566" cy="1192312"/>
          </a:xfrm>
          <a:prstGeom prst="roundRect">
            <a:avLst>
              <a:gd name="adj" fmla="val 8521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 txBox="1"/>
          <p:nvPr/>
        </p:nvSpPr>
        <p:spPr>
          <a:xfrm>
            <a:off x="4588867" y="2006501"/>
            <a:ext cx="3315583" cy="280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Doğal dil işleme (NLP)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88867" y="2313781"/>
            <a:ext cx="3315583" cy="275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Çeviri, duygu analizi, büyük dil modelleri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58634" y="1803301"/>
            <a:ext cx="3420566" cy="1192312"/>
          </a:xfrm>
          <a:prstGeom prst="roundRect">
            <a:avLst>
              <a:gd name="adj" fmla="val 8521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 txBox="1"/>
          <p:nvPr/>
        </p:nvSpPr>
        <p:spPr>
          <a:xfrm>
            <a:off x="8161834" y="2006501"/>
            <a:ext cx="3315583" cy="280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Konuşma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161834" y="2313781"/>
            <a:ext cx="3134733" cy="514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Konuşmadan metne (ASR), metinden konuşmaya (TTS)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2800" y="3148013"/>
            <a:ext cx="3420467" cy="1192312"/>
          </a:xfrm>
          <a:prstGeom prst="roundRect">
            <a:avLst>
              <a:gd name="adj" fmla="val 8521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 txBox="1"/>
          <p:nvPr/>
        </p:nvSpPr>
        <p:spPr>
          <a:xfrm>
            <a:off x="1016000" y="3351213"/>
            <a:ext cx="3315474" cy="280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Robotik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16000" y="3658493"/>
            <a:ext cx="3315474" cy="275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Algı (CV) + planlama + kontrol bir arada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85667" y="3148013"/>
            <a:ext cx="3420566" cy="1192312"/>
          </a:xfrm>
          <a:prstGeom prst="roundRect">
            <a:avLst>
              <a:gd name="adj" fmla="val 8521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 txBox="1"/>
          <p:nvPr/>
        </p:nvSpPr>
        <p:spPr>
          <a:xfrm>
            <a:off x="4588867" y="3351213"/>
            <a:ext cx="3315583" cy="280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Öneri sistemleri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88867" y="3658493"/>
            <a:ext cx="3315583" cy="275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E-ticaret, video ve müzik platformları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58634" y="3148013"/>
            <a:ext cx="3420566" cy="1192312"/>
          </a:xfrm>
          <a:prstGeom prst="roundRect">
            <a:avLst>
              <a:gd name="adj" fmla="val 8521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 txBox="1"/>
          <p:nvPr/>
        </p:nvSpPr>
        <p:spPr>
          <a:xfrm>
            <a:off x="8161834" y="3351213"/>
            <a:ext cx="3315583" cy="280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kipli modeller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161834" y="3658493"/>
            <a:ext cx="3134733" cy="514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Görüntü, metin ve sesi tek modelde birleştirir; sınırlar kayboluyor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1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VERİ BİLİMİ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 YZ projesinin yaşam döngüsü, ders haftalarıyla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301"/>
            <a:ext cx="2527300" cy="848320"/>
          </a:xfrm>
          <a:prstGeom prst="roundRect">
            <a:avLst>
              <a:gd name="adj" fmla="val 11977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 txBox="1"/>
          <p:nvPr/>
        </p:nvSpPr>
        <p:spPr>
          <a:xfrm>
            <a:off x="990600" y="1981101"/>
            <a:ext cx="238887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Hafta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90600" y="2245221"/>
            <a:ext cx="2388870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tanımı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492500" y="1803301"/>
            <a:ext cx="2527300" cy="848320"/>
          </a:xfrm>
          <a:prstGeom prst="roundRect">
            <a:avLst>
              <a:gd name="adj" fmla="val 11977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 txBox="1"/>
          <p:nvPr/>
        </p:nvSpPr>
        <p:spPr>
          <a:xfrm>
            <a:off x="3670300" y="1981101"/>
            <a:ext cx="238887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Hafta 3, 7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670300" y="2245221"/>
            <a:ext cx="2388870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toplama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72200" y="1803301"/>
            <a:ext cx="2527300" cy="848320"/>
          </a:xfrm>
          <a:prstGeom prst="roundRect">
            <a:avLst>
              <a:gd name="adj" fmla="val 11977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 txBox="1"/>
          <p:nvPr/>
        </p:nvSpPr>
        <p:spPr>
          <a:xfrm>
            <a:off x="6350000" y="1981101"/>
            <a:ext cx="238887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Hafta 7–8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350000" y="2245221"/>
            <a:ext cx="2388870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Temizleme ve ETL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851900" y="1803301"/>
            <a:ext cx="2527300" cy="848320"/>
          </a:xfrm>
          <a:prstGeom prst="roundRect">
            <a:avLst>
              <a:gd name="adj" fmla="val 11977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 txBox="1"/>
          <p:nvPr/>
        </p:nvSpPr>
        <p:spPr>
          <a:xfrm>
            <a:off x="9029700" y="1981101"/>
            <a:ext cx="238887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Hafta 6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029700" y="2245221"/>
            <a:ext cx="2388870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Keşifsel analiz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12800" y="2804021"/>
            <a:ext cx="2527300" cy="848320"/>
          </a:xfrm>
          <a:prstGeom prst="roundRect">
            <a:avLst>
              <a:gd name="adj" fmla="val 11977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 txBox="1"/>
          <p:nvPr/>
        </p:nvSpPr>
        <p:spPr>
          <a:xfrm>
            <a:off x="990600" y="2981821"/>
            <a:ext cx="238887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Hafta 9–12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90600" y="3245941"/>
            <a:ext cx="2388870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Modelleme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492500" y="2804021"/>
            <a:ext cx="2527300" cy="848320"/>
          </a:xfrm>
          <a:prstGeom prst="roundRect">
            <a:avLst>
              <a:gd name="adj" fmla="val 11977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 txBox="1"/>
          <p:nvPr/>
        </p:nvSpPr>
        <p:spPr>
          <a:xfrm>
            <a:off x="3670300" y="2981821"/>
            <a:ext cx="238887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Hafta 10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670300" y="3245941"/>
            <a:ext cx="2388870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Değerlendirme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172200" y="2804021"/>
            <a:ext cx="2527300" cy="848320"/>
          </a:xfrm>
          <a:prstGeom prst="roundRect">
            <a:avLst>
              <a:gd name="adj" fmla="val 11977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 txBox="1"/>
          <p:nvPr/>
        </p:nvSpPr>
        <p:spPr>
          <a:xfrm>
            <a:off x="6350000" y="2981821"/>
            <a:ext cx="238887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Hafta 14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350000" y="3245941"/>
            <a:ext cx="2388870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Dağıtım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851900" y="2804021"/>
            <a:ext cx="2527300" cy="848320"/>
          </a:xfrm>
          <a:prstGeom prst="roundRect">
            <a:avLst>
              <a:gd name="adj" fmla="val 11977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 txBox="1"/>
          <p:nvPr/>
        </p:nvSpPr>
        <p:spPr>
          <a:xfrm>
            <a:off x="9029700" y="2981821"/>
            <a:ext cx="238887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Hafta 14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029700" y="3245941"/>
            <a:ext cx="2388870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İzleme → başa dön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12800" y="3906341"/>
            <a:ext cx="11328400" cy="296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Döngüdür, çizgi değildir: izleme yeni veri ve yeni sorunlar getirir. Sektörde zamanın çoğu 2. ve 3. adımlara gider.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1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MATEMATİKSEL ÖZ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Öğrenmek, kaybı en aza indiren parametreleri bulmaktır</a:t>
            </a:r>
            <a:endParaRPr lang="en-US" sz="3200" dirty="0"/>
          </a:p>
        </p:txBody>
      </p:sp>
      <p:pic>
        <p:nvPicPr>
          <p:cNvPr id="4" name="Image 0" descr="y şapka eşittir f(x; teta); teta yıldız eşittir teta üzerinden argmin, i=1'den N'ye kayıp fonksiyonunun ortalaması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792" y="1803301"/>
            <a:ext cx="6090016" cy="3124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264400" y="2356545"/>
            <a:ext cx="4526280" cy="296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girdi (özellikler)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264400" y="2741315"/>
            <a:ext cx="4526280" cy="296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gerçek cevap, </a:t>
            </a: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</a:t>
            </a: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modelin tahmini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264400" y="3126085"/>
            <a:ext cx="4526280" cy="296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</a:t>
            </a: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öğrenilen parametreler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264400" y="3510855"/>
            <a:ext cx="4526280" cy="296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kayıp: tahmin ne kadar yanlış?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264400" y="3895626"/>
            <a:ext cx="4279392" cy="514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Lineer cebir (hafta 5), olasılık (hafta 6) ve optimizasyon (hafta 10–11) bu iki satırın içindedir.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ALTYAPI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Hangi iş hangi donanımda?</a:t>
            </a:r>
            <a:endParaRPr lang="en-US" sz="3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03301"/>
          <a:ext cx="10566400" cy="914400"/>
        </p:xfrm>
        <a:graphic>
          <a:graphicData uri="http://schemas.openxmlformats.org/drawingml/2006/table">
            <a:tbl>
              <a:tblPr/>
              <a:tblGrid>
                <a:gridCol w="2113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5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79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98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Birim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6680" marR="106680" marT="62230" marB="6223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Güçlü olduğu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6680" marR="106680" marT="62230" marB="6223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YZ'deki rolü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6680" marR="106680" marT="62230" marB="6223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0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6680" marR="106680" marT="62230" marB="6223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 sayıda güçlü, genel amaçlı çekirdek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6680" marR="106680" marT="62230" marB="6223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hazırlama, küçük modeller, servis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6680" marR="106680" marT="62230" marB="6223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0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6680" marR="106680" marT="62230" marB="6223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Binlerce basit çekirdek, paralel matris çarpımı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6680" marR="106680" marT="62230" marB="6223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Derin öğrenme eğitimi ve çıkarımı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6680" marR="106680" marT="62230" marB="6223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0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TPU / NPU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6680" marR="106680" marT="62230" marB="6223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Matris işlemine özel yonga (ASIC)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6680" marR="106680" marT="62230" marB="6223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Büyük ölçekli eğitim; telefonda çıkarım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6680" marR="106680" marT="62230" marB="6223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0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Uç cihaz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6680" marR="106680" marT="62230" marB="6223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Düşük güç, yerel çalışma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6680" marR="106680" marT="62230" marB="6223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Kamera, IoT, gizlilik gerektiren çıkarım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6680" marR="106680" marT="62230" marB="6223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3822402"/>
            <a:ext cx="11328400" cy="296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pahalıdır ve bir kez yapılır; çıkarım ucuzdur ama milyonlarca kez yapılır. Donanım seçimi buna göre değişir.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BULUT BİLİŞİM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Üç hizmet modeli: ne kadarını siz yönetiyorsunuz?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301"/>
            <a:ext cx="3420566" cy="1745456"/>
          </a:xfrm>
          <a:prstGeom prst="roundRect">
            <a:avLst>
              <a:gd name="adj" fmla="val 5821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 txBox="1"/>
          <p:nvPr/>
        </p:nvSpPr>
        <p:spPr>
          <a:xfrm>
            <a:off x="1066800" y="2057301"/>
            <a:ext cx="3203823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66800" y="2451001"/>
            <a:ext cx="3203823" cy="296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Altyapı: sanal makine, disk, ağ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66800" y="2797671"/>
            <a:ext cx="3029069" cy="514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İşletim sistemi ve üstü sizde. Bu derste: hafta 4 ve 14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5766" y="1803301"/>
            <a:ext cx="3420566" cy="1745456"/>
          </a:xfrm>
          <a:prstGeom prst="roundRect">
            <a:avLst>
              <a:gd name="adj" fmla="val 5821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 txBox="1"/>
          <p:nvPr/>
        </p:nvSpPr>
        <p:spPr>
          <a:xfrm>
            <a:off x="4639766" y="2057301"/>
            <a:ext cx="3203823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639766" y="2451001"/>
            <a:ext cx="3029069" cy="554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yönetilen veritabanı, model eğitim servisleri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39766" y="3055441"/>
            <a:ext cx="3203823" cy="275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ve veri sizde, sunucu sağlayıcıda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58733" y="1803301"/>
            <a:ext cx="3420566" cy="1745456"/>
          </a:xfrm>
          <a:prstGeom prst="roundRect">
            <a:avLst>
              <a:gd name="adj" fmla="val 5821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 txBox="1"/>
          <p:nvPr/>
        </p:nvSpPr>
        <p:spPr>
          <a:xfrm>
            <a:off x="8212733" y="2057301"/>
            <a:ext cx="3203823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12733" y="2451001"/>
            <a:ext cx="3203823" cy="296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Yazılım: sohbet asistanları, e-posta, ofis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12733" y="2797671"/>
            <a:ext cx="3203823" cy="275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Yalnızca kullanırsınız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12800" y="3802757"/>
            <a:ext cx="11328400" cy="296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Bulut sunucularının büyük çoğunluğu Linux çalıştırır; IaaS seçtiğiniz anda Linux yöneticisi olursunuz.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1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GÜNCEL EĞİLİMLER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2026'da alanı biçimlendiren beş eğilim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03301"/>
            <a:ext cx="447040" cy="367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397000" y="1829891"/>
            <a:ext cx="10744200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Üretken ve çok kipli YZ</a:t>
            </a: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metin, görüntü, ses, kod üretimi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2237581"/>
            <a:ext cx="447040" cy="367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97000" y="2264172"/>
            <a:ext cx="10744200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YZ ajanları</a:t>
            </a: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araç kullanan, terminalde komut çalıştıran modeller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2671862"/>
            <a:ext cx="447040" cy="367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97000" y="2698452"/>
            <a:ext cx="10744200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Küçük ve yerel modeller</a:t>
            </a: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açık ağırlıklar, dizüstünde LLM (hafta 13)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12800" y="3106142"/>
            <a:ext cx="447040" cy="367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97000" y="3132733"/>
            <a:ext cx="10744200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Uç YZ</a:t>
            </a: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telefon ve kameralarda NPU ile çıkarım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12800" y="3540423"/>
            <a:ext cx="447040" cy="367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97000" y="3567013"/>
            <a:ext cx="10744200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Düzenleme</a:t>
            </a: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AB YZ Yasası, KVKK, GDPR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12800" y="4114403"/>
            <a:ext cx="10566400" cy="544116"/>
          </a:xfrm>
          <a:prstGeom prst="roundRect">
            <a:avLst>
              <a:gd name="adj" fmla="val 14004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 txBox="1"/>
          <p:nvPr/>
        </p:nvSpPr>
        <p:spPr>
          <a:xfrm>
            <a:off x="1016000" y="4266803"/>
            <a:ext cx="11125200" cy="275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Öngörü (spekülatif):</a:t>
            </a: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ajanlar kod yazmayı kolaylaştırdıkça, sistemi kurma, denetleme ve sorun giderme becerisi daha değerli hâle gelebilir.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1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RİSKLER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Dönem boyunca izleyeceğimiz dört risk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54101"/>
            <a:ext cx="5207000" cy="1308001"/>
          </a:xfrm>
          <a:prstGeom prst="roundRect">
            <a:avLst>
              <a:gd name="adj" fmla="val 7768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 txBox="1"/>
          <p:nvPr/>
        </p:nvSpPr>
        <p:spPr>
          <a:xfrm>
            <a:off x="1041400" y="2082701"/>
            <a:ext cx="5224780" cy="29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Önyargı (bias)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41400" y="2417961"/>
            <a:ext cx="5224780" cy="296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verideki dengesizliği öğrenir ve büyütür. Hafta 10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854101"/>
            <a:ext cx="5207000" cy="1308001"/>
          </a:xfrm>
          <a:prstGeom prst="roundRect">
            <a:avLst>
              <a:gd name="adj" fmla="val 7768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 txBox="1"/>
          <p:nvPr/>
        </p:nvSpPr>
        <p:spPr>
          <a:xfrm>
            <a:off x="6400800" y="2082701"/>
            <a:ext cx="5224780" cy="29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Gizlilik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417961"/>
            <a:ext cx="4939792" cy="554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Kişisel veri KVKK ve GDPR kapsamındadır; anonimleştirme. Hafta 7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2800" y="3314502"/>
            <a:ext cx="5207000" cy="1308001"/>
          </a:xfrm>
          <a:prstGeom prst="roundRect">
            <a:avLst>
              <a:gd name="adj" fmla="val 7768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 txBox="1"/>
          <p:nvPr/>
        </p:nvSpPr>
        <p:spPr>
          <a:xfrm>
            <a:off x="1041400" y="3543102"/>
            <a:ext cx="5224780" cy="29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Halüsinasyon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041400" y="3878362"/>
            <a:ext cx="4939792" cy="554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 modelleri akıcı ama yanlış cevap üretebilir; doğrulama şart. Hafta 13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200" y="3314502"/>
            <a:ext cx="5207000" cy="1308001"/>
          </a:xfrm>
          <a:prstGeom prst="roundRect">
            <a:avLst>
              <a:gd name="adj" fmla="val 7768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 txBox="1"/>
          <p:nvPr/>
        </p:nvSpPr>
        <p:spPr>
          <a:xfrm>
            <a:off x="6400800" y="3543102"/>
            <a:ext cx="5224780" cy="29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Güvenlik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878362"/>
            <a:ext cx="5224780" cy="296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İstem enjeksiyonu, açık portlar, sızan anahtarlar. Hafta 4, 13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1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2225179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TEORİ ÖZETİ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2743299"/>
            <a:ext cx="11328400" cy="490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E8E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YZ ⊃ ML ⊃ DL; makine öğrenmesi kuralı veriden çıkarır.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3373140"/>
            <a:ext cx="11328400" cy="490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E8E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Bugünkü sıçrama veri, GPU ve açık kaynağın birleşimidir.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4002980"/>
            <a:ext cx="11328400" cy="490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E8E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Bu altyapının ortak dili Linux'tur.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2523530"/>
            <a:ext cx="11328400" cy="286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 · UYGULAMA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2975570"/>
            <a:ext cx="11328400" cy="920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E8E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terminaline ilk adım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3978870"/>
            <a:ext cx="11328400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ogrenci@okan-lab:~$ _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LİNUX?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YZ altyapısının varsayılan işletim sistemi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54101"/>
            <a:ext cx="3420566" cy="1992511"/>
          </a:xfrm>
          <a:prstGeom prst="roundRect">
            <a:avLst>
              <a:gd name="adj" fmla="val 5099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 txBox="1"/>
          <p:nvPr/>
        </p:nvSpPr>
        <p:spPr>
          <a:xfrm>
            <a:off x="1066800" y="2108101"/>
            <a:ext cx="3203823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500/500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1066800" y="2819301"/>
            <a:ext cx="3029069" cy="811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TOP500 listesindeki süper bilgisayarların tamamı Linux çalıştırır (Kasım 2017'den beri)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5766" y="1854101"/>
            <a:ext cx="3420566" cy="1992511"/>
          </a:xfrm>
          <a:prstGeom prst="roundRect">
            <a:avLst>
              <a:gd name="adj" fmla="val 5099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8" name="Image 0" descr="Clou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9766" y="2108101"/>
            <a:ext cx="457200" cy="4572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639766" y="2666901"/>
            <a:ext cx="3203823" cy="315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Bulut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4639766" y="3042741"/>
            <a:ext cx="3029069" cy="554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Sanal makinelerin ve konteynerlerin büyük çoğunluğu Linux tabanlı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958733" y="1854101"/>
            <a:ext cx="3420566" cy="1992511"/>
          </a:xfrm>
          <a:prstGeom prst="roundRect">
            <a:avLst>
              <a:gd name="adj" fmla="val 5099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2" name="Image 1" descr="Too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2733" y="2108101"/>
            <a:ext cx="457200" cy="4572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212733" y="2666901"/>
            <a:ext cx="3203823" cy="315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Araçlar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8212733" y="3042741"/>
            <a:ext cx="3029069" cy="554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CUDA sürücüleri, Kubernetes, SSH: hepsi önce Linux için yazılır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1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KURULUM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Windows'ta en hızlı yol: WSL2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03301"/>
            <a:ext cx="5615940" cy="296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PowerShell'i </a:t>
            </a: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yönetici olarak</a:t>
            </a: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açın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188071"/>
            <a:ext cx="5615940" cy="296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Kurulum komutunu çalıştırın, bilgisayarı yeniden başlatın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2572841"/>
            <a:ext cx="5615940" cy="296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Açılan Ubuntu penceresinde kullanıcı adı ve parola belirleyin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2957612"/>
            <a:ext cx="5615940" cy="296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Sürümü doğrulayın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3342382"/>
            <a:ext cx="5615940" cy="275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veya WSL açamayanlar: VirtualBox + Ubuntu 24.04 ISO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803301"/>
            <a:ext cx="5207000" cy="2295922"/>
          </a:xfrm>
          <a:prstGeom prst="roundRect">
            <a:avLst>
              <a:gd name="adj" fmla="val 4425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 txBox="1"/>
          <p:nvPr/>
        </p:nvSpPr>
        <p:spPr>
          <a:xfrm>
            <a:off x="6400800" y="2031901"/>
            <a:ext cx="5224780" cy="30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A8B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PowerShell (yönetici)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346821"/>
            <a:ext cx="5224780" cy="30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wsl --install -d Ubuntu-24.04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661741"/>
            <a:ext cx="5224780" cy="30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A8B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Ubuntu terminali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976662"/>
            <a:ext cx="5224780" cy="30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3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lsb_release -a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3291582"/>
            <a:ext cx="5224780" cy="30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3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sudo apt update &amp;&amp; sudo apt upgrade -y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606502"/>
            <a:ext cx="5224780" cy="30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A8B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Windows dosyaları: /mnt/c/Users/...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1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TERMİNAL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 komut satırının anatomisi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301"/>
            <a:ext cx="10566400" cy="899120"/>
          </a:xfrm>
          <a:prstGeom prst="roundRect">
            <a:avLst>
              <a:gd name="adj" fmla="val 113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 txBox="1"/>
          <p:nvPr/>
        </p:nvSpPr>
        <p:spPr>
          <a:xfrm>
            <a:off x="1117600" y="2057301"/>
            <a:ext cx="10952480" cy="449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A8B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ogrenci@okan-lab:~$</a:t>
            </a:r>
            <a:r>
              <a:rPr lang="en-US" sz="22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22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</a:t>
            </a:r>
            <a:r>
              <a:rPr lang="en-US" sz="22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-la /etc</a:t>
            </a:r>
            <a:endParaRPr lang="en-US" sz="22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956421"/>
          <a:ext cx="10566400" cy="914400"/>
        </p:xfrm>
        <a:graphic>
          <a:graphicData uri="http://schemas.openxmlformats.org/drawingml/2006/table">
            <a:tbl>
              <a:tblPr/>
              <a:tblGrid>
                <a:gridCol w="27471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92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98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Parça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6680" marR="106680" marT="62230" marB="6223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Anlamı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6680" marR="106680" marT="62230" marB="6223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0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ogrenci@okan-lab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6680" marR="106680" marT="62230" marB="6223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Kullanıcı adı @ makine adı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6680" marR="106680" marT="62230" marB="6223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0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6680" marR="106680" marT="62230" marB="6223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Bulunduğunuz dizin; ~ ev dizininizdir (/home/ogrenci)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6680" marR="106680" marT="62230" marB="6223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0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6680" marR="106680" marT="62230" marB="6223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kullanıcı; # görürseniz root (tam yetki) olarak çalışıyorsunuz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6680" marR="106680" marT="62230" marB="6223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0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 · -la · /etc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6680" marR="106680" marT="62230" marB="6223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Komut · seçenekler (l: ayrıntılı, a: gizliler dahil) · argüman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6680" marR="106680" marT="62230" marB="6223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DİZİN YAPISI (FHS)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 şey tek bir kökten, / dizininden dallanır</a:t>
            </a:r>
            <a:endParaRPr lang="en-US" sz="32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752501"/>
          <a:ext cx="10566400" cy="914400"/>
        </p:xfrm>
        <a:graphic>
          <a:graphicData uri="http://schemas.openxmlformats.org/drawingml/2006/table">
            <a:tbl>
              <a:tblPr/>
              <a:tblGrid>
                <a:gridCol w="1690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6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492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186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Dizin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İçerik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YZ bağlamında örnek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0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/home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Kullanıcı dosyaları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Projeleriniz, veri setleriniz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0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/etc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 yapılandırması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/etc/os-release, SSH ayarları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0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/usr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Programlar ve kütüphaneler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/usr/bin/python3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0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/var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Değişken veri, günlükler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/var/log, veritabanı dosyaları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0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/opt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 (üçüncü taraf) yazılımlar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Bazı ticari araç kurulumları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0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/tmp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Geçici dosyalar, açılışta silinebilir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İndirme ve ara çıktılar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50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Çekirdeğin sanal dosyaları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/proc/cpuinfo, /proc/meminfo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50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/dev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Aygıt dosyaları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Diskler, GPU aygıtları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1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KOMUTLAR ·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Gezinme ve dosya yönetimi</a:t>
            </a:r>
            <a:endParaRPr lang="en-US" sz="32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752501"/>
          <a:ext cx="10566400" cy="914400"/>
        </p:xfrm>
        <a:graphic>
          <a:graphicData uri="http://schemas.openxmlformats.org/drawingml/2006/table">
            <a:tbl>
              <a:tblPr/>
              <a:tblGrid>
                <a:gridCol w="19019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5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492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186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 yapar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Örnek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0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Bulunduğum dizini yazar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0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Dizin içeriğini listeler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 -la ~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0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Dizin değiştirir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 ~/mbbo205 · cd .. · cd 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0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mkdir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Dizin oluşturur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mkdir -p mbbo205/hafta01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0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Boş dosya oluşturur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touch notlar.txt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0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Kopyalar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 -r veri/ yedek/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50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Taşır veya yeniden adlandırır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 eski.txt yeni.txt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50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Siler, geri dönüşüm kutusu yoktur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 dosya.txt · rm -r dizin/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1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KOMUTLAR ·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Dosya okuma, yönlendirme ve boru hattı</a:t>
            </a:r>
            <a:endParaRPr lang="en-US" sz="32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752501"/>
          <a:ext cx="5715000" cy="914400"/>
        </p:xfrm>
        <a:graphic>
          <a:graphicData uri="http://schemas.openxmlformats.org/drawingml/2006/table">
            <a:tbl>
              <a:tblPr/>
              <a:tblGrid>
                <a:gridCol w="148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186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 yapar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0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Dosyanın tamamını yazar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0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Sayfa sayfa okur (q: çık)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0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 · tail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İlk ve son satırlar (-n 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0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wc -l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Satır sayar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0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echo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Metni yazar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0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· &gt;&gt;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Çıktıyı dosyaya yazar · sonuna ekler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50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 komutun çıktısını diğerine verir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781800" y="1752501"/>
            <a:ext cx="4597400" cy="2600325"/>
          </a:xfrm>
          <a:prstGeom prst="roundRect">
            <a:avLst>
              <a:gd name="adj" fmla="val 390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3"/>
          <p:cNvSpPr txBox="1"/>
          <p:nvPr/>
        </p:nvSpPr>
        <p:spPr>
          <a:xfrm>
            <a:off x="6985000" y="1955701"/>
            <a:ext cx="4610100" cy="280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A8B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dosyaya yaz, ekle, say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985000" y="2250281"/>
            <a:ext cx="4610100" cy="280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2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echo "merhaba" &gt; a.txt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985000" y="2544862"/>
            <a:ext cx="4610100" cy="280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2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echo "linux" &gt;&gt; a.txt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985000" y="2839442"/>
            <a:ext cx="4610100" cy="280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2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cat a.txt | wc -l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985000" y="3134023"/>
            <a:ext cx="4610100" cy="280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985000" y="3428603"/>
            <a:ext cx="4610100" cy="280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A8B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 büyük 5 dosya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985000" y="3723184"/>
            <a:ext cx="4610100" cy="280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2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ls -S /etc | head -n 5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1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SİSTEM BİLGİSİ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Makinenizi tanıyın: YZ için hangi kaynaklar var?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752501"/>
            <a:ext cx="5715000" cy="2631281"/>
          </a:xfrm>
          <a:prstGeom prst="roundRect">
            <a:avLst>
              <a:gd name="adj" fmla="val 3861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 txBox="1"/>
          <p:nvPr/>
        </p:nvSpPr>
        <p:spPr>
          <a:xfrm>
            <a:off x="1016000" y="1955701"/>
            <a:ext cx="5839460" cy="2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3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whoami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16000" y="2236986"/>
            <a:ext cx="5839460" cy="2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3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uname -r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16000" y="2518271"/>
            <a:ext cx="5839460" cy="2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3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cat /etc/os-release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6000" y="2799556"/>
            <a:ext cx="5839460" cy="2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3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lscpu | head -n 15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16000" y="3080841"/>
            <a:ext cx="5839460" cy="2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3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nproc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16000" y="3362127"/>
            <a:ext cx="5839460" cy="2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3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free -h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16000" y="3643412"/>
            <a:ext cx="5839460" cy="2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3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df -h /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16000" y="3924697"/>
            <a:ext cx="5839460" cy="2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3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nvidia-smi </a:t>
            </a:r>
            <a:r>
              <a:rPr lang="en-US" sz="1300" dirty="0">
                <a:solidFill>
                  <a:srgbClr val="A8B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GPU varsa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781800" y="1752501"/>
            <a:ext cx="5057140" cy="296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Çekirdek sayısı</a:t>
            </a: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paralel veri işlemeyi belirler.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781800" y="2137271"/>
            <a:ext cx="5057140" cy="296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belleğe sığacak veri setini ve modeli sınırlar.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781800" y="2522041"/>
            <a:ext cx="5057140" cy="296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</a:t>
            </a: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veri setleri ve model dosyaları için gerekir.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781800" y="2906812"/>
            <a:ext cx="5057140" cy="275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komutların çıktısı bugünkü teslimin içeriğidir.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1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YARDIM VE KISAYOLLAR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Ezberlemeyin, nerede bulacağınızı bilin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301"/>
            <a:ext cx="5207000" cy="2493863"/>
          </a:xfrm>
          <a:prstGeom prst="roundRect">
            <a:avLst>
              <a:gd name="adj" fmla="val 4074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 txBox="1"/>
          <p:nvPr/>
        </p:nvSpPr>
        <p:spPr>
          <a:xfrm>
            <a:off x="1066800" y="2057301"/>
            <a:ext cx="5168900" cy="29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Yardım</a:t>
            </a:r>
            <a:endParaRPr lang="en-US" sz="17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6800" y="2417961"/>
          <a:ext cx="4699000" cy="914400"/>
        </p:xfrm>
        <a:graphic>
          <a:graphicData uri="http://schemas.openxmlformats.org/drawingml/2006/table">
            <a:tbl>
              <a:tblPr/>
              <a:tblGrid>
                <a:gridCol w="206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1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186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 verir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0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 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 kılavuz (q: çık, /: ara)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0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 --help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Kısa seçenek listesi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0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apropos disk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Konuya göre komut arar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0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Komutun nereden geldiği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172200" y="1803301"/>
            <a:ext cx="5207000" cy="2493863"/>
          </a:xfrm>
          <a:prstGeom prst="roundRect">
            <a:avLst>
              <a:gd name="adj" fmla="val 4074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 txBox="1"/>
          <p:nvPr/>
        </p:nvSpPr>
        <p:spPr>
          <a:xfrm>
            <a:off x="6426200" y="2057301"/>
            <a:ext cx="5168900" cy="29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Kısayollar</a:t>
            </a:r>
            <a:endParaRPr lang="en-US" sz="1700" dirty="0"/>
          </a:p>
        </p:txBody>
      </p:sp>
      <p:graphicFrame>
        <p:nvGraphicFramePr>
          <p:cNvPr id="7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26200" y="2417961"/>
          <a:ext cx="4699000" cy="914400"/>
        </p:xfrm>
        <a:graphic>
          <a:graphicData uri="http://schemas.openxmlformats.org/drawingml/2006/table">
            <a:tbl>
              <a:tblPr/>
              <a:tblGrid>
                <a:gridCol w="1691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7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186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Tuş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İşlev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0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Tamamlama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0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· Ctrl+R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Geçmiş · geçmişte arama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0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Ctrl+C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Çalışan komutu durdurur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0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Ctrl+L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Ekranı temizler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9060" marR="99060" marT="57785" marB="5778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812800" y="4551164"/>
            <a:ext cx="11328400" cy="286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Kılavuzlar İngilizcedir; her hafta bir man sayfası okuma alışkanlığı kazanacağız.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1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GÖREVİ · 25 DK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Ortam raporunuzu üretin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752501"/>
            <a:ext cx="4191000" cy="286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Ders dizinini oluşturun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115641"/>
            <a:ext cx="3962400" cy="535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env_report.sh dosyasını Telegram grubundan indirip dizine kopyalayın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2727623"/>
            <a:ext cx="4191000" cy="286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Çalıştırma izni verin ve çalıştırın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3090763"/>
            <a:ext cx="4191000" cy="286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Çıktıyı okuyun: çekirdek, RAM, disk, GPU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3453904"/>
            <a:ext cx="4191000" cy="286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Betiği açıp her satırın ne yaptığını not edin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76800" y="1752501"/>
            <a:ext cx="6502400" cy="2265263"/>
          </a:xfrm>
          <a:prstGeom prst="roundRect">
            <a:avLst>
              <a:gd name="adj" fmla="val 4485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 txBox="1"/>
          <p:nvPr/>
        </p:nvSpPr>
        <p:spPr>
          <a:xfrm>
            <a:off x="5080000" y="1955701"/>
            <a:ext cx="6705600" cy="280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2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mkdir -p ~/mbbo205/hafta01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080000" y="2224881"/>
            <a:ext cx="6705600" cy="280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2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cd ~/mbbo205/hafta01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080000" y="2494062"/>
            <a:ext cx="6705600" cy="280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A8B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WSL: Windows İndirilenler klasöründen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080000" y="2763242"/>
            <a:ext cx="6705600" cy="280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2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cp /mnt/c/Users/ADINIZ/Downloads/env_report.sh 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080000" y="3032423"/>
            <a:ext cx="6705600" cy="280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2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chmod +x env_report.sh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080000" y="3301603"/>
            <a:ext cx="6705600" cy="280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2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./env_report.sh env_report.txt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080000" y="3570784"/>
            <a:ext cx="6705600" cy="280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2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less env_report.sh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1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BOZUK SİSTEM GÖREVİ · 15 DK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Hiçbir komut çalışmıyor. Neden?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752501"/>
            <a:ext cx="4826000" cy="2118122"/>
          </a:xfrm>
          <a:prstGeom prst="roundRect">
            <a:avLst>
              <a:gd name="adj" fmla="val 479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 txBox="1"/>
          <p:nvPr/>
        </p:nvSpPr>
        <p:spPr>
          <a:xfrm>
            <a:off x="1016000" y="1955701"/>
            <a:ext cx="4861560" cy="30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A8B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Bir arkadaşınız şunu yazdı: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16000" y="2245221"/>
            <a:ext cx="4861560" cy="30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3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export PATH=/opt/yok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16000" y="2534741"/>
            <a:ext cx="4861560" cy="30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3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6000" y="2824262"/>
            <a:ext cx="4861560" cy="30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ls: command not found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16000" y="3113782"/>
            <a:ext cx="4861560" cy="30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300" dirty="0">
                <a:solidFill>
                  <a:srgbClr val="E8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python3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16000" y="3403302"/>
            <a:ext cx="4861560" cy="30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python3: command not found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892800" y="1752501"/>
            <a:ext cx="6035040" cy="286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Belirti</a:t>
            </a: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hata mesajını aynen kaydedin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892800" y="2102941"/>
            <a:ext cx="6035040" cy="286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Hipotez</a:t>
            </a: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en az iki olası neden yazın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892800" y="2453382"/>
            <a:ext cx="6035040" cy="286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Test</a:t>
            </a: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echo $PATH ve /usr/bin/ls deneyin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892800" y="2803823"/>
            <a:ext cx="6035040" cy="286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Düzeltme</a:t>
            </a: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PATH'i onarın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892800" y="3154263"/>
            <a:ext cx="6035040" cy="286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Kök neden</a:t>
            </a: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şablona 3–5 cümle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1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TESLİM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Hafta 1 teslim listesi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301"/>
            <a:ext cx="6477000" cy="2008981"/>
          </a:xfrm>
          <a:prstGeom prst="roundRect">
            <a:avLst>
              <a:gd name="adj" fmla="val 5057"/>
            </a:avLst>
          </a:prstGeom>
          <a:solidFill>
            <a:srgbClr val="EDEBE4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CheckCirc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057301"/>
            <a:ext cx="279400" cy="279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73200" y="2063651"/>
            <a:ext cx="6118860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env_report.txt</a:t>
            </a:r>
            <a:endParaRPr lang="en-US" sz="1500" dirty="0"/>
          </a:p>
        </p:txBody>
      </p:sp>
      <p:pic>
        <p:nvPicPr>
          <p:cNvPr id="7" name="Image 1" descr="CheckCirc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463701"/>
            <a:ext cx="279400" cy="2794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73200" y="2470051"/>
            <a:ext cx="6118860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KOK_NEDEN_RAPORU.md (bozuk PATH)</a:t>
            </a:r>
            <a:endParaRPr lang="en-US" sz="1500" dirty="0"/>
          </a:p>
        </p:txBody>
      </p:sp>
      <p:pic>
        <p:nvPicPr>
          <p:cNvPr id="9" name="Image 2" descr="CheckCirc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870101"/>
            <a:ext cx="279400" cy="2794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473200" y="2876451"/>
            <a:ext cx="6118860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env_report.sh satır açıklamaları</a:t>
            </a:r>
            <a:endParaRPr lang="en-US" sz="1500" dirty="0"/>
          </a:p>
        </p:txBody>
      </p:sp>
      <p:pic>
        <p:nvPicPr>
          <p:cNvPr id="11" name="Image 3" descr="CheckCirc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3276501"/>
            <a:ext cx="279400" cy="27940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473200" y="3282851"/>
            <a:ext cx="6118860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AI_USAGE.md (kullandıysanız)</a:t>
            </a:r>
            <a:endParaRPr lang="en-US" sz="1500" dirty="0"/>
          </a:p>
        </p:txBody>
      </p:sp>
      <p:sp>
        <p:nvSpPr>
          <p:cNvPr id="13" name="Shape 7"/>
          <p:cNvSpPr/>
          <p:nvPr/>
        </p:nvSpPr>
        <p:spPr>
          <a:xfrm>
            <a:off x="7442200" y="1803301"/>
            <a:ext cx="3937000" cy="2008981"/>
          </a:xfrm>
          <a:prstGeom prst="roundRect">
            <a:avLst>
              <a:gd name="adj" fmla="val 5057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8"/>
          <p:cNvSpPr txBox="1"/>
          <p:nvPr/>
        </p:nvSpPr>
        <p:spPr>
          <a:xfrm>
            <a:off x="7696200" y="2057301"/>
            <a:ext cx="3771900" cy="26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teslim</a:t>
            </a:r>
            <a:endParaRPr lang="en-US" sz="1300" dirty="0"/>
          </a:p>
        </p:txBody>
      </p:sp>
      <p:sp>
        <p:nvSpPr>
          <p:cNvPr id="15" name="Text 9"/>
          <p:cNvSpPr txBox="1"/>
          <p:nvPr/>
        </p:nvSpPr>
        <p:spPr>
          <a:xfrm>
            <a:off x="7696200" y="2415381"/>
            <a:ext cx="3771900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[Tarih, saat]</a:t>
            </a:r>
            <a:endParaRPr lang="en-US" sz="2000" dirty="0"/>
          </a:p>
        </p:txBody>
      </p:sp>
      <p:sp>
        <p:nvSpPr>
          <p:cNvPr id="16" name="Text 10"/>
          <p:cNvSpPr txBox="1"/>
          <p:nvPr/>
        </p:nvSpPr>
        <p:spPr>
          <a:xfrm>
            <a:off x="7696200" y="2897981"/>
            <a:ext cx="3771900" cy="26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Teslim yeri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7696200" y="3256062"/>
            <a:ext cx="3771900" cy="347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[LMS / e-posta]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1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EDEB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13284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4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 HAFTA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2320"/>
            <a:ext cx="11328400" cy="5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Hafta 2: Linux sistem yönetimi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301"/>
            <a:ext cx="5207000" cy="2006501"/>
          </a:xfrm>
          <a:prstGeom prst="roundRect">
            <a:avLst>
              <a:gd name="adj" fmla="val 5064"/>
            </a:avLst>
          </a:prstGeom>
          <a:solidFill>
            <a:srgbClr val="F7F6F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 txBox="1"/>
          <p:nvPr/>
        </p:nvSpPr>
        <p:spPr>
          <a:xfrm>
            <a:off x="1066800" y="2057301"/>
            <a:ext cx="5168900" cy="29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Konular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66800" y="2417961"/>
            <a:ext cx="4886960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Kullanıcılar, gruplar, izinler</a:t>
            </a:r>
            <a:endParaRPr lang="en-US" sz="1400" dirty="0"/>
          </a:p>
          <a:p>
            <a:pPr marL="190500" indent="-190500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 yönetimi: apt</a:t>
            </a:r>
            <a:endParaRPr lang="en-US" sz="1400" dirty="0"/>
          </a:p>
          <a:p>
            <a:pPr marL="190500" indent="-190500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Servisler: systemd</a:t>
            </a:r>
            <a:endParaRPr lang="en-US" sz="1400" dirty="0"/>
          </a:p>
          <a:p>
            <a:pPr marL="190500" indent="-190500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anahtarıyla uzak bağlantı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803301"/>
            <a:ext cx="5207000" cy="2006501"/>
          </a:xfrm>
          <a:prstGeom prst="roundRect">
            <a:avLst>
              <a:gd name="adj" fmla="val 5064"/>
            </a:avLst>
          </a:prstGeom>
          <a:solidFill>
            <a:srgbClr val="F7F6F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 txBox="1"/>
          <p:nvPr/>
        </p:nvSpPr>
        <p:spPr>
          <a:xfrm>
            <a:off x="6426200" y="2057301"/>
            <a:ext cx="5168900" cy="29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Hazırlık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26200" y="2417961"/>
            <a:ext cx="4886960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kurulumunu tamamlayın</a:t>
            </a:r>
            <a:endParaRPr lang="en-US" sz="1400" dirty="0"/>
          </a:p>
          <a:p>
            <a:pPr marL="190500" indent="-190500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hier sayfasını okuyun</a:t>
            </a:r>
            <a:endParaRPr lang="en-US" sz="1400" dirty="0"/>
          </a:p>
          <a:p>
            <a:pPr marL="190500" indent="-190500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Semester, Ders 1: The Shell</a:t>
            </a:r>
            <a:endParaRPr lang="en-US" sz="1400" dirty="0"/>
          </a:p>
          <a:p>
            <a:pPr marL="190500" indent="-190500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haftanın 20 komutunu tekrar edin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12800" y="6238280"/>
            <a:ext cx="8382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MBBO205 · Hafta 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982200" y="6238280"/>
            <a:ext cx="1397000" cy="24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4026</Words>
  <Application>Microsoft Office PowerPoint</Application>
  <PresentationFormat>Geniş ekran</PresentationFormat>
  <Paragraphs>669</Paragraphs>
  <Slides>40</Slides>
  <Notes>40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40</vt:i4>
      </vt:variant>
    </vt:vector>
  </HeadingPairs>
  <TitlesOfParts>
    <vt:vector size="45" baseType="lpstr">
      <vt:lpstr>Arial</vt:lpstr>
      <vt:lpstr>Calibri</vt:lpstr>
      <vt:lpstr>Cambria</vt:lpstr>
      <vt:lpstr>Courier New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MBBO205 Hafta 1 – Giriş</dc:title>
  <dc:subject>PptxGenJS Presentation</dc:subject>
  <dc:creator>Dr. Öğr. Üyesi Hasan Oğuz</dc:creator>
  <cp:lastModifiedBy>Hasan Oğuz</cp:lastModifiedBy>
  <cp:revision>2</cp:revision>
  <dcterms:created xsi:type="dcterms:W3CDTF">2026-09-28T12:50:22Z</dcterms:created>
  <dcterms:modified xsi:type="dcterms:W3CDTF">2026-10-12T09:05:19Z</dcterms:modified>
</cp:coreProperties>
</file>