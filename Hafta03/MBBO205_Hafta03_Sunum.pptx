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ilk gerçek veri setimiz olan 20.000 satırlık bir web sunucusu günlüğünü yalnızca terminal araçlarıyla çözümlüyoruz.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 izin görevinin kök neden raporlarından bir örnek okunabilir.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Bugünün teori sorusu: veri 1000 kat büyürse betiğimiz ne kadar yavaşlar?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tablosu bugünün yıldızı: awk ile sayım yaparken kullanacağız. Karar ağaçları 9. haftada, hesap grafı 11. haftada.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Tanım: yeterince büyük n için T(n), f(n)'nin sabit katıyla üstten sınırlanır. Sabitleri ve küçük terimleri atarız: 3n² + 5n + 7 = O(n²). Bizi ilgilendiren, veri büyüdüğünde ne olduğudur.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Saniyede 10⁹ basit işlem yapan bir işlemcide O(n²) yaklaşık 17 dakika, O(n log n) 0,02 saniye sürer.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Veritabanı indeksleri (hafta 7) bu fikrin ağaç biçimidir. Ön koşul: veri sıralı olmalı; sıralamanın bedeli O(n 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ikisi de doğru sonucu verir; 20.000 satırda fark hissedilmez, 10⁹ satırda belirleyici olur. Uygulamada ikisini de çalıştıracağız.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ETL (hafta 7) ve Pandas (hafta 6) aynı fikrin daha büyük ölçekli halleridir.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 işlerinde 2&gt;&amp;1 kritik: hata mesajları aksi halde kaybolur ve betiğin neden çalışmadığını bilemezsiniz.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-e olmadan betik hata sonrası sessizce devam eder ve yarım dosyalar üretir. Veri hatlarında bu en tehlikeli hata biçimidir.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awk kendi başına bir programlama dilidir: alanlar $1, $2 …; son alan $NF; satır numarası NR.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cron'un PATH'i kısıtlıdır; Hafta 1'deki PATH görevinin doğrudan uygulaması. 7. haftada ETL hattını saatlik çalıştıracağız.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Uygulamaya geçiş.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access.log, satislar.csv, deneyler.json ve temizle.sh dosyaları Telegram grubunda.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 boşlukları satır sonuna çevirir, nl numaralar, sed yalnızca ilgili satırları gösterir. Bu, awk alan numaralarını bulmanın en hızlı yoludur.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IP günün yaklaşık yüzde 20'si. Bu bir bot, bir yük testi veya saldırı olabilir; sayılar soru sordurur.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403'ler /admin yolundan geliyor: yetkisiz erişim denemeleri. 500'ler yalnızca API'de; model servisinin hata oranı ayrı raporlanmalı.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Ortalama yanıltıcı olabilir; 6. haftada dağılım ve yüzdelikleri (p95) göreceğiz. Yoğun saat 13:00–14:00.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awk '!seen[$0]++' sıralamadan yinelenenleri atar ve sırayı korur: yine bir hash tablosu. Sıralama gerekmediği için O(n).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deney kayıtları ve API yanıtları genellikle JSON'dur. 10. haftada MLflow bu tür kayıtları otomatik tutacak. Toplam süre ≈ 1312 s; kayan nokta hatası nedeniyle 1311.9999… görünür, bu da bir ders konusu.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Çıktı: Toplam istek: 20000, HTTP 200: 18164, HTTP 404: 1030, HTTP 500: 198. awk -v kabuk değişkenini awk'a güvenli biçimde aktarır.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crontab satırı tek satır olarak yazılır; slaytta okunabilirlik için bölündü. cron $HOME'u tanır ama PATH'i kısadır. WSL'de cron çalışmıyorsa: sudo systemctl enable --now cron.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İskelet verildi; kalan bölümleri öğrenci tamamlar. 5xx oranı için awk içinde bölme yapılmalı.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Kök neden: Windows satır sonu CRLF (\r\n), Linux LF (\n). Kabuk, yorumlayıcı adını 'bash\r' olarak arar. Önleme: editörde LF seçimi, Git'te core.autocrlf=input, .gitattributes. dos2unix da kullanılabilir.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Teslim listesi.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Bulut hesabı açamayan öğrenciler için okul sunucusunda alternatif hazırlanacak.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OKAN ÜNİVERSİTESİ · MESLEK YÜKSEKOKULU · 2026–2027 GÜZ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035969"/>
            <a:ext cx="113284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523629"/>
            <a:ext cx="10989056" cy="1490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 betikleme ve komut satırında veri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113510"/>
            <a:ext cx="11328400" cy="38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yapıları, algoritma karmaşıklığı, boru hatları, grep, sed, awk, jq ve cron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461099"/>
            <a:ext cx="113284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Hasan Oğuz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5796359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3 gündemi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2737743"/>
          </a:xfrm>
          <a:prstGeom prst="roundRect">
            <a:avLst>
              <a:gd name="adj" fmla="val 3711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17600" y="2108101"/>
            <a:ext cx="505714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DERS SAATİ · TEORİ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2466181"/>
            <a:ext cx="50571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 ne kadar hızlı?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2897981"/>
            <a:ext cx="4781296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karmaşıklığı: O-notasyonu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felsefesi ve akışlar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betiği ve cron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72200" y="1803301"/>
            <a:ext cx="5207000" cy="2737743"/>
          </a:xfrm>
          <a:prstGeom prst="roundRect">
            <a:avLst>
              <a:gd name="adj" fmla="val 371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77000" y="2108101"/>
            <a:ext cx="505714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DERS SAATİ · UYGULAMA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77000" y="2466181"/>
            <a:ext cx="50571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satırında veri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77000" y="2897981"/>
            <a:ext cx="4781296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access.log: en çok istek atan IP'ler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grep, sed, awk, jq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Bash betiği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log raporu + bozuk CRLF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cümlede Hafta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Süreçler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2976134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program bir süreçtir; önce SIGTERM, son çare SIGKILL.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65067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İzinler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755, 644, 600: üç sınıf × üç bit; en az yetki ilkesi.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38034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dizini fazla açık izinliyse sshd girişi reddeder.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567980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TEORİ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3020020"/>
            <a:ext cx="11328400" cy="85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Algoritmalar ne kadar hızlı?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969941"/>
            <a:ext cx="1132840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karmaşıklık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YAPILARI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44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Veriyi nasıl tuttuğunuz, ne kadar hızlı eriştiğinizi belirler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47441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2200" y="202684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(array)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17961"/>
            <a:ext cx="2976134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Sıralı, indeksle O(1) erişim. NumPy dizileri, tensörler.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74744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65067" y="202684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1796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Eklemesi ucuz, aramak pahalı. Kuyruk ve yığınların temeli.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74744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38034" y="202684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tablosu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1796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→ değer, ortalama O(1). Python dict, awk dizileri.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2800" y="3420467"/>
            <a:ext cx="3420467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92200" y="3699867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92200" y="4090987"/>
            <a:ext cx="2976134" cy="89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 ve sıralı arama. Dizin yapısı, karar ağaçları, veritabanı indeksleri.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85667" y="3420467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665067" y="3699867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5067" y="4090987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Düğümler ve kenarlar. Sosyal ağlar, yol bulma, sinir ağı hesap grafı.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58634" y="3420467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38034" y="3699867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/ kuyruk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38034" y="4090987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/ FIFO. Geri alma işlemi, iş kuyrukları.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KARMAŞIKLIK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O-notasyonu: büyüme hızı, sabitler değil</a:t>
            </a:r>
            <a:endParaRPr lang="en-US" sz="3200" dirty="0"/>
          </a:p>
        </p:txBody>
      </p:sp>
      <p:pic>
        <p:nvPicPr>
          <p:cNvPr id="4" name="Image 0" descr="formü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00" y="1803301"/>
            <a:ext cx="10516600" cy="1085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3193951"/>
            <a:ext cx="10989056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Tanım: yeterince büyük n için T(n), f(n)'nin sabit katıyla üstten sınırlanır. Sabitleri ve küçük terimleri atarız: 3n² + 5n + 7 = O(n²). Bizi ilgilendiren, veri büyüdüğünde ne olduğudur.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KARMAŞIKLIK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Beş karmaşıklık sınıfı, bir milyon satırda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7901"/>
          <a:ext cx="10566400" cy="914400"/>
        </p:xfrm>
        <a:graphic>
          <a:graphicData uri="http://schemas.openxmlformats.org/drawingml/2006/table">
            <a:tbl>
              <a:tblPr/>
              <a:tblGrid>
                <a:gridCol w="1901924"/>
                <a:gridCol w="5494536"/>
                <a:gridCol w="3169940"/>
              </a:tblGrid>
              <a:tr h="382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10⁶ için yaklaşık adım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tablosunda anahtar arama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dizide ikili arama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Dosyayı bir kez okumak (awk, wc)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10⁶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Sıralama (sort)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10⁷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satırı her satırla karşılaştırmak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10¹²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318695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Saniyede 10⁹ işlemle: O(n log n) ≈ 0,02 s; O(n²) ≈ 17 dakika. Algoritma seçimi donanımdan önce gelir.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KARMAŞIKLIK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İkili arama: her adımda yarıya</a:t>
            </a:r>
            <a:endParaRPr lang="en-US" sz="3200" dirty="0"/>
          </a:p>
        </p:txBody>
      </p:sp>
      <p:pic>
        <p:nvPicPr>
          <p:cNvPr id="4" name="Image 0" descr="formü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161" y="2135882"/>
            <a:ext cx="5704279" cy="10096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83400" y="1803301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listede ortadaki elemana bak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6883400" y="2266454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Aranan küçükse sol yarı, büyükse sağ yarı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6883400" y="2729607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adım sonra tek eleman kalır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6883400" y="3192760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milyon kayıtta en fazla 20 karşılaştırma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KARMAŞIKLIK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soru, iki çözüm: "Her IP kaç istek attı?"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| uniq -c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4834128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sırala, sonra ardışık aynıları say. O(n log n). uniq yalnızca yan yana satırları görür.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803301"/>
            <a:ext cx="5207000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516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 ile hash tablosu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51600" y="2473821"/>
            <a:ext cx="4834128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c[$1]++ her satırda bir kez. O(n). Sıralama yalnızca sonuçta, az sayıda IP için.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3577927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sıralanmamış girdide yanlış sayar; bu, en sık yapılan komut satırı hatalarından biridir.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FELSEFESİ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araçlar, metin akışı, boru hattı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iş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2976134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araç tek bir işi iyi yapar: grep süzer, sort sıralar, wc sayar.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65067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arayüzü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 birbirine düz metin satırlarıyla veri aktarır.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38034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Birleştirme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 hattı (|) küçük araçları bir veri işleme hattına dönüştürür.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AKIŞLAR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sürecin üç akışı vardır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7901"/>
          <a:ext cx="10566400" cy="914400"/>
        </p:xfrm>
        <a:graphic>
          <a:graphicData uri="http://schemas.openxmlformats.org/drawingml/2006/table">
            <a:tbl>
              <a:tblPr/>
              <a:tblGrid>
                <a:gridCol w="845245"/>
                <a:gridCol w="2747169"/>
                <a:gridCol w="2535932"/>
                <a:gridCol w="4438055"/>
              </a:tblGrid>
              <a:tr h="382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Akış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Yönlendirme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stdin (girdi)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-l &lt; access.log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stdout (çıktı)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ve &gt;&gt;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&gt; liste.txt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stderr (hata)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2&gt;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/ -name x 2&gt; /dev/null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ikisi birlikte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dosya 2&gt;&amp;1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betik.sh &gt; log.txt 2&gt;&amp;1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boru hattı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404 access.log | wc -l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 ekrana hem dosyaya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rapor.sh | tee rapor.txt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betiğin anatomisi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Shebang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4834128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#!/usr/bin/env bash: dosyayı hangi yorumlayıcının çalıştıracağı.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803301"/>
            <a:ext cx="5207000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516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mod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51600" y="2473821"/>
            <a:ext cx="4834128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-euo pipefail: hata, tanımsız değişken ve boru hatası hatasında dur.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12800" y="3476327"/>
            <a:ext cx="5207000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092200" y="3755727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Argümanlar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92200" y="4146848"/>
            <a:ext cx="4834128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 $2 … konumsal; $# sayı; $@ tümü; ${1:?mesaj} zorunlu.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72200" y="3476327"/>
            <a:ext cx="5207000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51600" y="3755727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kodu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51600" y="4146848"/>
            <a:ext cx="4834128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başarı, 0 dışı hata; $? son komutun kodu. cron ve CI buna bakar.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METİN ARAÇLARI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işleme için sekiz komut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7901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/>
                <a:gridCol w="4649192"/>
                <a:gridCol w="4226620"/>
              </a:tblGrid>
              <a:tr h="3605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Desene uyan satırları süz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" 500 " access.log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Sütun kes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-d, -f3 satislar.csv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Sırala (-n sayısal, -r ters)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-rn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 -c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Ardışık aynıları say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| uniq -c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 ve değiştir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 's/NA//g'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tabanlı küçük programlar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awk '{print $1}'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jq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sorgula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jq '.[].model'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-l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Satır say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-l access.log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490" marR="110490" marT="64452" marB="6445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cron: beş alanla zaman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Sözdizimi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2976134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dakika saat gün ay haftanın-günü komut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65067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* * * *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73821"/>
            <a:ext cx="3147943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saat başı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38034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*/15 * * * *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73821"/>
            <a:ext cx="3147943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15 dakikada bir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2800" y="3476327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92200" y="3755727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2 * * 1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92200" y="4146848"/>
            <a:ext cx="3147834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pazartesi 02:30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85667" y="3476327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665067" y="3755727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5067" y="4146848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minimal PATH ile çalışır; komut ve dosyalarda tam yol kullanın.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58634" y="3476327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38034" y="3755727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38034" y="4146848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log 2&gt;&amp;1 ile çıktı ve hatayı dosyaya yazın.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27082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TEORİ ÖZETİ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788940"/>
            <a:ext cx="11328400" cy="45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Veri yapısı erişim hızını, algoritma büyüme hızını belirler.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388320"/>
            <a:ext cx="11328400" cy="45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O(n²) ile O(n log n) arasındaki fark donanımla kapatılamaz.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987701"/>
            <a:ext cx="11328400" cy="45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Unix araçları boru hattıyla birleşince bir veri işleme dili olur.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306439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UYGULAMA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758480"/>
            <a:ext cx="11328400" cy="85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Komut satırında veri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708400"/>
            <a:ext cx="1132840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access.log: 20.000 satırlık bir günün hikâyesi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231580"/>
            <a:ext cx="1132840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$1}' access.log | sort | uniq -c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VERİYİ TANIYIN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günlük satırının alanları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istemci IP adresi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zaman damgası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$6–$7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 yöntemi ve yol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durum kodu,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boyut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60154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$NF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alan: yanıt süresi (s)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0" y="1803301"/>
            <a:ext cx="5969000" cy="3403600"/>
          </a:xfrm>
          <a:prstGeom prst="roundRect">
            <a:avLst>
              <a:gd name="adj" fmla="val 2985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689600" y="20573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wc -l access.log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3494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20000 access.log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6415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 -1 access.log | tr " " "\n" | nl \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29336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| sed -n '1p;4p;6,7p;9,10p'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2257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 1  10.0.7.121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5178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 4  [12/Oct/2026:00:03:06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38099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 6  "GET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1020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 7  /index.html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89600" y="43941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 9  200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89600" y="4686201"/>
            <a:ext cx="59512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10  1596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en çok istek atıyor?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 alanını çek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Sırala ki aynılar yan yana gelsin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Ardışık aynıları say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Sayıya göre tersten sırala, ilk 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660650"/>
          </a:xfrm>
          <a:prstGeom prst="roundRect">
            <a:avLst>
              <a:gd name="adj" fmla="val 3819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awk '{print $1}' access.log \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| sort | uniq -c | sort -rn | head -5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 3996 10.0.6.125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 1904 10.0.1.139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 1169 10.0.7.121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883 10.0.3.250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706 10.0.8.48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durum kodları, ne sıklıkta?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Durum kodu 9. alan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awk hash tablosu ile tek geçişte say (O(n))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Sonucu sırala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4xx istemci, 5xx sunucu hatası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971800"/>
          </a:xfrm>
          <a:prstGeom prst="roundRect">
            <a:avLst>
              <a:gd name="adj" fmla="val 3419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awk '{c[$9]++} END {for (k in c)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 c[k], k}' access.log | sort -rn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18164 200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1030 404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608 403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198 500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grep -c '"GET /admin' access.log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2353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608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API'si ne kadar hızlı yanıt veriyor?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Yalnızca /api/predict satırları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alanı (süre) topla, say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Ortalamayı yazdır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Günün en yoğun saatlerini bul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3025775"/>
          </a:xfrm>
          <a:prstGeom prst="roundRect">
            <a:avLst>
              <a:gd name="adj" fmla="val 3358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awk '$7=="/api/predict" {s+=$NF; n++}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398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END {printf "%d istek, ort. %.3f s\n",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224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n, s/n}' access.log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050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6785 istek, ort. 0.340 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1876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awk -F'[][]' '{split($2,a,":"); print a[2]}' \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4701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access.log | sort | uniq -c | sort -rn | head -3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7527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 2077 13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0353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 1941 14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3179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 1874 15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TEMİZLİĞİ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satislar.csv: eksik, yinelenen, kirli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Kaç satır, kaç eksik adet?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Yinelenen satır sayısı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İl adlarındaki fazla boşlukları kırp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Temiz dosyayı yaz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3308350"/>
          </a:xfrm>
          <a:prstGeom prst="roundRect">
            <a:avLst>
              <a:gd name="adj" fmla="val 307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wc -l satislar.csv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398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1226 satislar.csv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224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awk -F, 'NR&gt;1 &amp;&amp; $5==""' satislar.csv | wc -l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050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1876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sort satislar.csv | uniq -d | wc -l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4701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7527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sed -E 's/, +/,/g; s/ +,/,/g' satislar.csv \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0353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| awk -F, '!seen[$0]++' &gt; temiz.csv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3179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wc -l &lt; temiz.csv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89600" y="46004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1201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jq ile deney sonuçlarını sorgulayın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Doğruluğu 0,9'u geçen deneyler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Toplam deney süresi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F1'e göre en iyi deney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Sonuç: JSON'dan tabloya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854325"/>
          </a:xfrm>
          <a:prstGeom prst="roundRect">
            <a:avLst>
              <a:gd name="adj" fmla="val 3560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jq -r '.[] | select(.metrikler.dogruluk &gt; 0.9)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20826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| "\(.deney) \(.model) \(.metrikler.dogruluk)"' \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584351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deneyler.json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847876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exp06 xgboost 0.923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111401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exp07 xgboost 0.915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374926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exp11 xgboost 0.902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638451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jq 'map(.sure_sn) | add' deneyler.json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3901976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jq -r 'sort_by(-.metrikler.f1)[0].deney' deneyler.json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165501"/>
            <a:ext cx="595122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exp05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BETİĞİ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Tekrar eden işi betiğe dönüştürün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Zorunlu argüman: ${1:?…}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Döngü ile her durum kodunu say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Argümansız çalıştırınca çıkış kodu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Çalıştırma izni verip deneyin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743200"/>
          </a:xfrm>
          <a:prstGeom prst="roundRect">
            <a:avLst>
              <a:gd name="adj" fmla="val 3704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398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-euo pipefail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224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LOG="${1:?kullanım: $0 access.log}"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050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"Toplam istek: $(wc -l &lt; "$LOG")"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1876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kod in 200 404 500; do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4701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n=$(awk -v k="$kod" '$9 == k' "$LOG" | wc -l)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7527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echo "HTTP $kod: $n"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0353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Betiği her saat çalıştırın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cron servisinin çalıştığını doğrulayın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crontab düzenleyicisini açın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 yollarla bir satır ekleyin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Birkaç dakika sonra günlüğü okuyun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743200"/>
          </a:xfrm>
          <a:prstGeom prst="roundRect">
            <a:avLst>
              <a:gd name="adj" fmla="val 3704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systemctl is-active cron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398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crontab -e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224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her saat başı; test için */2 kullanın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050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* * * * $HOME/mbbo205/hafta03/rapor.sh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1876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$HOME/mbbo205/hafta03/access.log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4701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&gt;&gt; $HOME/mbbo205/hafta03/cron.log 2&gt;&amp;1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7527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crontab -l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0353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tail -f ~/mbbo205/hafta03/cron.log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GÖREVİ · 20 DK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log_raporu.sh: günlük özet raporu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çok istek atan 10 IP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Durum kodu dağılımı ve 5xx oranı (%)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/api/predict ortalama ve en yüksek süre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yoğun 3 saat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601541"/>
            <a:ext cx="4517136" cy="611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Çıktıyı rapor_TARIH.txt dosyasına yazın, cron'a ekleyin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0" y="1803301"/>
            <a:ext cx="5969000" cy="3308350"/>
          </a:xfrm>
          <a:prstGeom prst="roundRect">
            <a:avLst>
              <a:gd name="adj" fmla="val 307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689600" y="20573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3398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-euo pipefail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6224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LOG="${1:?kullanım: $0 access.log}"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29050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OUT="rapor_$(date +%F).txt"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1876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4701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echo "== En çok istek atan 10 IP =="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37527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awk '{print $1}' "$LOG" | sort | uniq -c \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0353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| sort -rn | head -10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89600" y="43179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... diğer bölümleri siz ekleyin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89600" y="46004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| tee "$OUT"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SİSTEM GÖREVİ · 15 DK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Windows'tan gelen betik çalışmıyor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Belirti: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 hata mesajını kaydedin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ve cat -A ne gösteriyor?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Hipotez: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^M karakteri nereden geldi?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Düzeltme: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satır sonlarını çevirin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60154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Önleme: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 ve editör ayarı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0" y="1803301"/>
            <a:ext cx="5969000" cy="3025775"/>
          </a:xfrm>
          <a:prstGeom prst="roundRect">
            <a:avLst>
              <a:gd name="adj" fmla="val 3358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689600" y="20573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chmod +x temizle.sh &amp;&amp; ./temizle.sh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3398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/usr/bin/env: 'bash\r': No such file or directory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6224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 temizle.sh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29050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with CRLF line terminators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1876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 -A temizle.sh | head -1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47017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bash^M$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375275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sed -i 's/\r$//' temizle.sh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035326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./temizle.sh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89600" y="4317901"/>
            <a:ext cx="5951220" cy="29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1191 satislar_temiz.csv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TESLİM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3 teslim listesi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6858000" cy="2008981"/>
          </a:xfrm>
          <a:prstGeom prst="roundRect">
            <a:avLst>
              <a:gd name="adj" fmla="val 5057"/>
            </a:avLst>
          </a:prstGeom>
          <a:solidFill>
            <a:srgbClr val="EDEBE4"/>
          </a:solidFill>
          <a:ln/>
        </p:spPr>
        <p:txBody>
          <a:bodyPr/>
          <a:p/>
        </p:txBody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057301"/>
            <a:ext cx="279400" cy="279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3200" y="20636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log_raporu.sh ve rapor_TARIH.txt</a:t>
            </a:r>
            <a:endParaRPr lang="en-US" sz="1500" dirty="0"/>
          </a:p>
        </p:txBody>
      </p:sp>
      <p:pic>
        <p:nvPicPr>
          <p:cNvPr id="7" name="Image 1" descr="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463701"/>
            <a:ext cx="279400" cy="279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73200" y="24700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crontab -l çıktısı</a:t>
            </a:r>
            <a:endParaRPr lang="en-US" sz="1500" dirty="0"/>
          </a:p>
        </p:txBody>
      </p:sp>
      <p:pic>
        <p:nvPicPr>
          <p:cNvPr id="9" name="Image 2" descr="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70101"/>
            <a:ext cx="279400" cy="279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73200" y="28764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KOK_NEDEN_RAPORU.md (CRLF)</a:t>
            </a:r>
            <a:endParaRPr lang="en-US" sz="1500" dirty="0"/>
          </a:p>
        </p:txBody>
      </p:sp>
      <p:pic>
        <p:nvPicPr>
          <p:cNvPr id="11" name="Image 3" descr="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3276501"/>
            <a:ext cx="279400" cy="2794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73200" y="32828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temiz.csv için satır sayısı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7823200" y="1803301"/>
            <a:ext cx="3556000" cy="2008981"/>
          </a:xfrm>
          <a:prstGeom prst="roundRect">
            <a:avLst>
              <a:gd name="adj" fmla="val 5057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14" name="Text 8"/>
          <p:cNvSpPr txBox="1"/>
          <p:nvPr/>
        </p:nvSpPr>
        <p:spPr>
          <a:xfrm>
            <a:off x="8077200" y="2057301"/>
            <a:ext cx="335280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teslim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8077200" y="2415381"/>
            <a:ext cx="33528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[Tarih, saat]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8077200" y="2897981"/>
            <a:ext cx="335280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yeri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077200" y="3256062"/>
            <a:ext cx="3352800" cy="347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[LMS / e-posta]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4: Donanım, ağ ve bulut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2206923"/>
          </a:xfrm>
          <a:prstGeom prst="roundRect">
            <a:avLst>
              <a:gd name="adj" fmla="val 4604"/>
            </a:avLst>
          </a:prstGeom>
          <a:solidFill>
            <a:srgbClr val="F7F6F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668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Konular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2417961"/>
            <a:ext cx="4886960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GPU, TPU ve bellek hiyerarşisi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TCP/IP, DNS, HTTP, portlar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IaaS: ilk bulut sanal makinesi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duvarı ve maliyet sınırı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803301"/>
            <a:ext cx="5207000" cy="2206923"/>
          </a:xfrm>
          <a:prstGeom prst="roundRect">
            <a:avLst>
              <a:gd name="adj" fmla="val 4604"/>
            </a:avLst>
          </a:prstGeom>
          <a:solidFill>
            <a:srgbClr val="F7F6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262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26200" y="2417961"/>
            <a:ext cx="4886960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bulut sağlayıcıda öğrenci hesabı açın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kartı gerekiyorsa bildirin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anahtarınız hazır olsun (hafta 2)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Okuma: sağlayıcının ücretsiz katman sayfası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207320"/>
            <a:ext cx="7264400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3210620"/>
            <a:ext cx="7264400" cy="347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Hasan Oğuz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589040"/>
            <a:ext cx="72644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931940"/>
            <a:ext cx="72644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401840"/>
            <a:ext cx="7264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Duyurular ve lab dosyaları Telegram grubunda 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26400" y="1752600"/>
            <a:ext cx="3352800" cy="3352800"/>
          </a:xfrm>
          <a:prstGeom prst="roundRect">
            <a:avLst>
              <a:gd name="adj" fmla="val 4545"/>
            </a:avLst>
          </a:prstGeom>
          <a:solidFill>
            <a:srgbClr val="F7F6F2"/>
          </a:solidFill>
          <a:ln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İstanbul Okan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MBBO205 Hafta 3 – Bash betikleme ve komut satırında veri</dc:title>
  <dc:subject>PptxGenJS Presentation</dc:subject>
  <dc:creator>Dr. Öğr. Üyesi Hasan Oğuz</dc:creator>
  <cp:lastModifiedBy>Dr. Öğr. Üyesi Hasan Oğuz</cp:lastModifiedBy>
  <cp:revision>1</cp:revision>
  <dcterms:created xsi:type="dcterms:W3CDTF">2026-09-30T11:21:59Z</dcterms:created>
  <dcterms:modified xsi:type="dcterms:W3CDTF">2026-09-30T11:21:59Z</dcterms:modified>
</cp:coreProperties>
</file>